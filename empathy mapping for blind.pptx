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3261A4-E77B-44F1-A2A6-F5EC75F9DEED}" v="29" dt="2026-07-05T14:23:16.5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80" autoAdjust="0"/>
    <p:restoredTop sz="89063" autoAdjust="0"/>
  </p:normalViewPr>
  <p:slideViewPr>
    <p:cSldViewPr snapToGrid="0" snapToObjects="1">
      <p:cViewPr varScale="1">
        <p:scale>
          <a:sx n="73" d="100"/>
          <a:sy n="73" d="100"/>
        </p:scale>
        <p:origin x="88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ya Kumar" userId="d590c2a79f692ecd" providerId="LiveId" clId="{62FF9259-A617-47C9-8BAE-A2423E8D0C6B}"/>
    <pc:docChg chg="undo custSel modSld">
      <pc:chgData name="Akshaya Kumar" userId="d590c2a79f692ecd" providerId="LiveId" clId="{62FF9259-A617-47C9-8BAE-A2423E8D0C6B}" dt="2026-07-05T14:47:57.556" v="1431" actId="1076"/>
      <pc:docMkLst>
        <pc:docMk/>
      </pc:docMkLst>
      <pc:sldChg chg="modSp mod">
        <pc:chgData name="Akshaya Kumar" userId="d590c2a79f692ecd" providerId="LiveId" clId="{62FF9259-A617-47C9-8BAE-A2423E8D0C6B}" dt="2026-07-05T14:26:41.008" v="1419" actId="20577"/>
        <pc:sldMkLst>
          <pc:docMk/>
          <pc:sldMk cId="0" sldId="256"/>
        </pc:sldMkLst>
        <pc:spChg chg="mod">
          <ac:chgData name="Akshaya Kumar" userId="d590c2a79f692ecd" providerId="LiveId" clId="{62FF9259-A617-47C9-8BAE-A2423E8D0C6B}" dt="2026-06-29T08:14:41.418" v="1050" actId="14100"/>
          <ac:spMkLst>
            <pc:docMk/>
            <pc:sldMk cId="0" sldId="256"/>
            <ac:spMk id="7" creationId="{00000000-0000-0000-0000-000000000000}"/>
          </ac:spMkLst>
        </pc:spChg>
        <pc:spChg chg="mod">
          <ac:chgData name="Akshaya Kumar" userId="d590c2a79f692ecd" providerId="LiveId" clId="{62FF9259-A617-47C9-8BAE-A2423E8D0C6B}" dt="2026-06-29T08:18:47.637" v="1200" actId="20577"/>
          <ac:spMkLst>
            <pc:docMk/>
            <pc:sldMk cId="0" sldId="256"/>
            <ac:spMk id="9" creationId="{00000000-0000-0000-0000-000000000000}"/>
          </ac:spMkLst>
        </pc:spChg>
        <pc:spChg chg="mod">
          <ac:chgData name="Akshaya Kumar" userId="d590c2a79f692ecd" providerId="LiveId" clId="{62FF9259-A617-47C9-8BAE-A2423E8D0C6B}" dt="2026-07-05T14:26:41.008" v="1419" actId="20577"/>
          <ac:spMkLst>
            <pc:docMk/>
            <pc:sldMk cId="0" sldId="256"/>
            <ac:spMk id="12" creationId="{00000000-0000-0000-0000-000000000000}"/>
          </ac:spMkLst>
        </pc:spChg>
      </pc:sldChg>
      <pc:sldChg chg="addSp modSp mod">
        <pc:chgData name="Akshaya Kumar" userId="d590c2a79f692ecd" providerId="LiveId" clId="{62FF9259-A617-47C9-8BAE-A2423E8D0C6B}" dt="2026-07-05T14:46:59.135" v="1430" actId="1076"/>
        <pc:sldMkLst>
          <pc:docMk/>
          <pc:sldMk cId="0" sldId="257"/>
        </pc:sldMkLst>
        <pc:spChg chg="mod">
          <ac:chgData name="Akshaya Kumar" userId="d590c2a79f692ecd" providerId="LiveId" clId="{62FF9259-A617-47C9-8BAE-A2423E8D0C6B}" dt="2026-06-29T08:20:19.162" v="1241" actId="2711"/>
          <ac:spMkLst>
            <pc:docMk/>
            <pc:sldMk cId="0" sldId="257"/>
            <ac:spMk id="8" creationId="{00000000-0000-0000-0000-000000000000}"/>
          </ac:spMkLst>
        </pc:spChg>
        <pc:spChg chg="mod">
          <ac:chgData name="Akshaya Kumar" userId="d590c2a79f692ecd" providerId="LiveId" clId="{62FF9259-A617-47C9-8BAE-A2423E8D0C6B}" dt="2026-06-29T08:20:10.672" v="1239" actId="113"/>
          <ac:spMkLst>
            <pc:docMk/>
            <pc:sldMk cId="0" sldId="257"/>
            <ac:spMk id="11" creationId="{00000000-0000-0000-0000-000000000000}"/>
          </ac:spMkLst>
        </pc:spChg>
        <pc:spChg chg="mod">
          <ac:chgData name="Akshaya Kumar" userId="d590c2a79f692ecd" providerId="LiveId" clId="{62FF9259-A617-47C9-8BAE-A2423E8D0C6B}" dt="2026-06-29T08:20:03.404" v="1237" actId="113"/>
          <ac:spMkLst>
            <pc:docMk/>
            <pc:sldMk cId="0" sldId="257"/>
            <ac:spMk id="13" creationId="{00000000-0000-0000-0000-000000000000}"/>
          </ac:spMkLst>
        </pc:spChg>
        <pc:spChg chg="mod">
          <ac:chgData name="Akshaya Kumar" userId="d590c2a79f692ecd" providerId="LiveId" clId="{62FF9259-A617-47C9-8BAE-A2423E8D0C6B}" dt="2026-06-29T08:21:18.496" v="1265" actId="20577"/>
          <ac:spMkLst>
            <pc:docMk/>
            <pc:sldMk cId="0" sldId="257"/>
            <ac:spMk id="15" creationId="{00000000-0000-0000-0000-000000000000}"/>
          </ac:spMkLst>
        </pc:spChg>
        <pc:spChg chg="mod">
          <ac:chgData name="Akshaya Kumar" userId="d590c2a79f692ecd" providerId="LiveId" clId="{62FF9259-A617-47C9-8BAE-A2423E8D0C6B}" dt="2026-06-29T08:19:54.367" v="1235" actId="1076"/>
          <ac:spMkLst>
            <pc:docMk/>
            <pc:sldMk cId="0" sldId="257"/>
            <ac:spMk id="19" creationId="{00000000-0000-0000-0000-000000000000}"/>
          </ac:spMkLst>
        </pc:spChg>
        <pc:spChg chg="mod">
          <ac:chgData name="Akshaya Kumar" userId="d590c2a79f692ecd" providerId="LiveId" clId="{62FF9259-A617-47C9-8BAE-A2423E8D0C6B}" dt="2026-06-29T08:25:10.004" v="1268" actId="1076"/>
          <ac:spMkLst>
            <pc:docMk/>
            <pc:sldMk cId="0" sldId="257"/>
            <ac:spMk id="20" creationId="{00000000-0000-0000-0000-000000000000}"/>
          </ac:spMkLst>
        </pc:spChg>
        <pc:spChg chg="mod">
          <ac:chgData name="Akshaya Kumar" userId="d590c2a79f692ecd" providerId="LiveId" clId="{62FF9259-A617-47C9-8BAE-A2423E8D0C6B}" dt="2026-06-29T08:25:49.645" v="1276" actId="20577"/>
          <ac:spMkLst>
            <pc:docMk/>
            <pc:sldMk cId="0" sldId="257"/>
            <ac:spMk id="23" creationId="{00000000-0000-0000-0000-000000000000}"/>
          </ac:spMkLst>
        </pc:spChg>
        <pc:picChg chg="add mod">
          <ac:chgData name="Akshaya Kumar" userId="d590c2a79f692ecd" providerId="LiveId" clId="{62FF9259-A617-47C9-8BAE-A2423E8D0C6B}" dt="2026-07-05T14:46:59.135" v="1430" actId="1076"/>
          <ac:picMkLst>
            <pc:docMk/>
            <pc:sldMk cId="0" sldId="257"/>
            <ac:picMk id="25" creationId="{720F90F4-593C-22A0-0147-48CE3C1D528B}"/>
          </ac:picMkLst>
        </pc:picChg>
      </pc:sldChg>
      <pc:sldChg chg="modSp mod">
        <pc:chgData name="Akshaya Kumar" userId="d590c2a79f692ecd" providerId="LiveId" clId="{62FF9259-A617-47C9-8BAE-A2423E8D0C6B}" dt="2026-06-29T08:14:08.010" v="1049" actId="14100"/>
        <pc:sldMkLst>
          <pc:docMk/>
          <pc:sldMk cId="0" sldId="258"/>
        </pc:sldMkLst>
        <pc:spChg chg="mod">
          <ac:chgData name="Akshaya Kumar" userId="d590c2a79f692ecd" providerId="LiveId" clId="{62FF9259-A617-47C9-8BAE-A2423E8D0C6B}" dt="2026-06-29T08:09:17.903" v="1019" actId="14100"/>
          <ac:spMkLst>
            <pc:docMk/>
            <pc:sldMk cId="0" sldId="258"/>
            <ac:spMk id="7" creationId="{00000000-0000-0000-0000-000000000000}"/>
          </ac:spMkLst>
        </pc:spChg>
        <pc:spChg chg="mod">
          <ac:chgData name="Akshaya Kumar" userId="d590c2a79f692ecd" providerId="LiveId" clId="{62FF9259-A617-47C9-8BAE-A2423E8D0C6B}" dt="2026-06-29T08:11:20.584" v="1025" actId="1076"/>
          <ac:spMkLst>
            <pc:docMk/>
            <pc:sldMk cId="0" sldId="258"/>
            <ac:spMk id="13" creationId="{00000000-0000-0000-0000-000000000000}"/>
          </ac:spMkLst>
        </pc:spChg>
        <pc:spChg chg="mod">
          <ac:chgData name="Akshaya Kumar" userId="d590c2a79f692ecd" providerId="LiveId" clId="{62FF9259-A617-47C9-8BAE-A2423E8D0C6B}" dt="2026-06-29T08:13:30.947" v="1046" actId="20577"/>
          <ac:spMkLst>
            <pc:docMk/>
            <pc:sldMk cId="0" sldId="258"/>
            <ac:spMk id="14" creationId="{00000000-0000-0000-0000-000000000000}"/>
          </ac:spMkLst>
        </pc:spChg>
        <pc:spChg chg="mod">
          <ac:chgData name="Akshaya Kumar" userId="d590c2a79f692ecd" providerId="LiveId" clId="{62FF9259-A617-47C9-8BAE-A2423E8D0C6B}" dt="2026-06-29T08:13:43.682" v="1047" actId="14100"/>
          <ac:spMkLst>
            <pc:docMk/>
            <pc:sldMk cId="0" sldId="258"/>
            <ac:spMk id="15" creationId="{00000000-0000-0000-0000-000000000000}"/>
          </ac:spMkLst>
        </pc:spChg>
        <pc:spChg chg="mod">
          <ac:chgData name="Akshaya Kumar" userId="d590c2a79f692ecd" providerId="LiveId" clId="{62FF9259-A617-47C9-8BAE-A2423E8D0C6B}" dt="2026-06-29T08:13:26.515" v="1040" actId="20577"/>
          <ac:spMkLst>
            <pc:docMk/>
            <pc:sldMk cId="0" sldId="258"/>
            <ac:spMk id="24" creationId="{00000000-0000-0000-0000-000000000000}"/>
          </ac:spMkLst>
        </pc:spChg>
        <pc:spChg chg="mod">
          <ac:chgData name="Akshaya Kumar" userId="d590c2a79f692ecd" providerId="LiveId" clId="{62FF9259-A617-47C9-8BAE-A2423E8D0C6B}" dt="2026-06-29T08:13:53.812" v="1048" actId="14100"/>
          <ac:spMkLst>
            <pc:docMk/>
            <pc:sldMk cId="0" sldId="258"/>
            <ac:spMk id="25" creationId="{00000000-0000-0000-0000-000000000000}"/>
          </ac:spMkLst>
        </pc:spChg>
        <pc:spChg chg="mod">
          <ac:chgData name="Akshaya Kumar" userId="d590c2a79f692ecd" providerId="LiveId" clId="{62FF9259-A617-47C9-8BAE-A2423E8D0C6B}" dt="2026-06-29T08:13:19.488" v="1034" actId="20577"/>
          <ac:spMkLst>
            <pc:docMk/>
            <pc:sldMk cId="0" sldId="258"/>
            <ac:spMk id="34" creationId="{00000000-0000-0000-0000-000000000000}"/>
          </ac:spMkLst>
        </pc:spChg>
        <pc:spChg chg="mod">
          <ac:chgData name="Akshaya Kumar" userId="d590c2a79f692ecd" providerId="LiveId" clId="{62FF9259-A617-47C9-8BAE-A2423E8D0C6B}" dt="2026-06-29T08:14:08.010" v="1049" actId="14100"/>
          <ac:spMkLst>
            <pc:docMk/>
            <pc:sldMk cId="0" sldId="258"/>
            <ac:spMk id="35" creationId="{00000000-0000-0000-0000-000000000000}"/>
          </ac:spMkLst>
        </pc:spChg>
        <pc:picChg chg="mod">
          <ac:chgData name="Akshaya Kumar" userId="d590c2a79f692ecd" providerId="LiveId" clId="{62FF9259-A617-47C9-8BAE-A2423E8D0C6B}" dt="2026-06-29T08:08:42.716" v="1015" actId="1076"/>
          <ac:picMkLst>
            <pc:docMk/>
            <pc:sldMk cId="0" sldId="258"/>
            <ac:picMk id="8" creationId="{00000000-0000-0000-0000-000000000000}"/>
          </ac:picMkLst>
        </pc:picChg>
      </pc:sldChg>
      <pc:sldChg chg="modSp mod">
        <pc:chgData name="Akshaya Kumar" userId="d590c2a79f692ecd" providerId="LiveId" clId="{62FF9259-A617-47C9-8BAE-A2423E8D0C6B}" dt="2026-07-05T14:23:16.549" v="1316"/>
        <pc:sldMkLst>
          <pc:docMk/>
          <pc:sldMk cId="0" sldId="259"/>
        </pc:sldMkLst>
        <pc:spChg chg="mod">
          <ac:chgData name="Akshaya Kumar" userId="d590c2a79f692ecd" providerId="LiveId" clId="{62FF9259-A617-47C9-8BAE-A2423E8D0C6B}" dt="2026-07-05T14:23:16.549" v="1316"/>
          <ac:spMkLst>
            <pc:docMk/>
            <pc:sldMk cId="0" sldId="259"/>
            <ac:spMk id="12" creationId="{00000000-0000-0000-0000-000000000000}"/>
          </ac:spMkLst>
        </pc:spChg>
        <pc:spChg chg="mod">
          <ac:chgData name="Akshaya Kumar" userId="d590c2a79f692ecd" providerId="LiveId" clId="{62FF9259-A617-47C9-8BAE-A2423E8D0C6B}" dt="2026-06-29T08:04:37.611" v="881" actId="2710"/>
          <ac:spMkLst>
            <pc:docMk/>
            <pc:sldMk cId="0" sldId="259"/>
            <ac:spMk id="15" creationId="{00000000-0000-0000-0000-000000000000}"/>
          </ac:spMkLst>
        </pc:spChg>
        <pc:spChg chg="mod">
          <ac:chgData name="Akshaya Kumar" userId="d590c2a79f692ecd" providerId="LiveId" clId="{62FF9259-A617-47C9-8BAE-A2423E8D0C6B}" dt="2026-06-29T08:06:18.253" v="891" actId="1076"/>
          <ac:spMkLst>
            <pc:docMk/>
            <pc:sldMk cId="0" sldId="259"/>
            <ac:spMk id="18" creationId="{00000000-0000-0000-0000-000000000000}"/>
          </ac:spMkLst>
        </pc:spChg>
      </pc:sldChg>
      <pc:sldChg chg="modSp mod">
        <pc:chgData name="Akshaya Kumar" userId="d590c2a79f692ecd" providerId="LiveId" clId="{62FF9259-A617-47C9-8BAE-A2423E8D0C6B}" dt="2026-07-05T14:47:57.556" v="1431" actId="1076"/>
        <pc:sldMkLst>
          <pc:docMk/>
          <pc:sldMk cId="0" sldId="260"/>
        </pc:sldMkLst>
        <pc:spChg chg="mod">
          <ac:chgData name="Akshaya Kumar" userId="d590c2a79f692ecd" providerId="LiveId" clId="{62FF9259-A617-47C9-8BAE-A2423E8D0C6B}" dt="2026-06-29T06:10:40.101" v="459" actId="1076"/>
          <ac:spMkLst>
            <pc:docMk/>
            <pc:sldMk cId="0" sldId="260"/>
            <ac:spMk id="4" creationId="{00000000-0000-0000-0000-000000000000}"/>
          </ac:spMkLst>
        </pc:spChg>
        <pc:spChg chg="mod">
          <ac:chgData name="Akshaya Kumar" userId="d590c2a79f692ecd" providerId="LiveId" clId="{62FF9259-A617-47C9-8BAE-A2423E8D0C6B}" dt="2026-06-29T08:01:46.356" v="802" actId="207"/>
          <ac:spMkLst>
            <pc:docMk/>
            <pc:sldMk cId="0" sldId="260"/>
            <ac:spMk id="6" creationId="{00000000-0000-0000-0000-000000000000}"/>
          </ac:spMkLst>
        </pc:spChg>
        <pc:spChg chg="mod">
          <ac:chgData name="Akshaya Kumar" userId="d590c2a79f692ecd" providerId="LiveId" clId="{62FF9259-A617-47C9-8BAE-A2423E8D0C6B}" dt="2026-06-29T08:01:17.569" v="799"/>
          <ac:spMkLst>
            <pc:docMk/>
            <pc:sldMk cId="0" sldId="260"/>
            <ac:spMk id="8" creationId="{00000000-0000-0000-0000-000000000000}"/>
          </ac:spMkLst>
        </pc:spChg>
        <pc:spChg chg="mod">
          <ac:chgData name="Akshaya Kumar" userId="d590c2a79f692ecd" providerId="LiveId" clId="{62FF9259-A617-47C9-8BAE-A2423E8D0C6B}" dt="2026-06-29T07:48:17.218" v="505" actId="1076"/>
          <ac:spMkLst>
            <pc:docMk/>
            <pc:sldMk cId="0" sldId="260"/>
            <ac:spMk id="11" creationId="{00000000-0000-0000-0000-000000000000}"/>
          </ac:spMkLst>
        </pc:spChg>
        <pc:spChg chg="mod">
          <ac:chgData name="Akshaya Kumar" userId="d590c2a79f692ecd" providerId="LiveId" clId="{62FF9259-A617-47C9-8BAE-A2423E8D0C6B}" dt="2026-06-29T07:48:24.035" v="506" actId="1076"/>
          <ac:spMkLst>
            <pc:docMk/>
            <pc:sldMk cId="0" sldId="260"/>
            <ac:spMk id="15" creationId="{00000000-0000-0000-0000-000000000000}"/>
          </ac:spMkLst>
        </pc:spChg>
        <pc:spChg chg="mod">
          <ac:chgData name="Akshaya Kumar" userId="d590c2a79f692ecd" providerId="LiveId" clId="{62FF9259-A617-47C9-8BAE-A2423E8D0C6B}" dt="2026-06-29T07:49:27.452" v="578" actId="1076"/>
          <ac:spMkLst>
            <pc:docMk/>
            <pc:sldMk cId="0" sldId="260"/>
            <ac:spMk id="20" creationId="{00000000-0000-0000-0000-000000000000}"/>
          </ac:spMkLst>
        </pc:spChg>
        <pc:spChg chg="mod">
          <ac:chgData name="Akshaya Kumar" userId="d590c2a79f692ecd" providerId="LiveId" clId="{62FF9259-A617-47C9-8BAE-A2423E8D0C6B}" dt="2026-06-29T07:50:39.456" v="583" actId="1076"/>
          <ac:spMkLst>
            <pc:docMk/>
            <pc:sldMk cId="0" sldId="260"/>
            <ac:spMk id="21" creationId="{00000000-0000-0000-0000-000000000000}"/>
          </ac:spMkLst>
        </pc:spChg>
        <pc:spChg chg="mod">
          <ac:chgData name="Akshaya Kumar" userId="d590c2a79f692ecd" providerId="LiveId" clId="{62FF9259-A617-47C9-8BAE-A2423E8D0C6B}" dt="2026-06-29T07:51:21.333" v="590" actId="12"/>
          <ac:spMkLst>
            <pc:docMk/>
            <pc:sldMk cId="0" sldId="260"/>
            <ac:spMk id="25" creationId="{00000000-0000-0000-0000-000000000000}"/>
          </ac:spMkLst>
        </pc:spChg>
        <pc:spChg chg="mod">
          <ac:chgData name="Akshaya Kumar" userId="d590c2a79f692ecd" providerId="LiveId" clId="{62FF9259-A617-47C9-8BAE-A2423E8D0C6B}" dt="2026-06-29T07:53:35.242" v="668" actId="12"/>
          <ac:spMkLst>
            <pc:docMk/>
            <pc:sldMk cId="0" sldId="260"/>
            <ac:spMk id="30" creationId="{00000000-0000-0000-0000-000000000000}"/>
          </ac:spMkLst>
        </pc:spChg>
        <pc:spChg chg="mod">
          <ac:chgData name="Akshaya Kumar" userId="d590c2a79f692ecd" providerId="LiveId" clId="{62FF9259-A617-47C9-8BAE-A2423E8D0C6B}" dt="2026-06-29T07:55:27.330" v="720" actId="1076"/>
          <ac:spMkLst>
            <pc:docMk/>
            <pc:sldMk cId="0" sldId="260"/>
            <ac:spMk id="31" creationId="{00000000-0000-0000-0000-000000000000}"/>
          </ac:spMkLst>
        </pc:spChg>
        <pc:spChg chg="mod">
          <ac:chgData name="Akshaya Kumar" userId="d590c2a79f692ecd" providerId="LiveId" clId="{62FF9259-A617-47C9-8BAE-A2423E8D0C6B}" dt="2026-06-29T07:54:53.931" v="718" actId="1076"/>
          <ac:spMkLst>
            <pc:docMk/>
            <pc:sldMk cId="0" sldId="260"/>
            <ac:spMk id="34" creationId="{00000000-0000-0000-0000-000000000000}"/>
          </ac:spMkLst>
        </pc:spChg>
        <pc:spChg chg="mod">
          <ac:chgData name="Akshaya Kumar" userId="d590c2a79f692ecd" providerId="LiveId" clId="{62FF9259-A617-47C9-8BAE-A2423E8D0C6B}" dt="2026-06-29T07:54:33.751" v="717" actId="12"/>
          <ac:spMkLst>
            <pc:docMk/>
            <pc:sldMk cId="0" sldId="260"/>
            <ac:spMk id="35" creationId="{00000000-0000-0000-0000-000000000000}"/>
          </ac:spMkLst>
        </pc:spChg>
        <pc:spChg chg="mod">
          <ac:chgData name="Akshaya Kumar" userId="d590c2a79f692ecd" providerId="LiveId" clId="{62FF9259-A617-47C9-8BAE-A2423E8D0C6B}" dt="2026-06-29T07:56:52.980" v="728" actId="12"/>
          <ac:spMkLst>
            <pc:docMk/>
            <pc:sldMk cId="0" sldId="260"/>
            <ac:spMk id="40" creationId="{00000000-0000-0000-0000-000000000000}"/>
          </ac:spMkLst>
        </pc:spChg>
        <pc:spChg chg="mod">
          <ac:chgData name="Akshaya Kumar" userId="d590c2a79f692ecd" providerId="LiveId" clId="{62FF9259-A617-47C9-8BAE-A2423E8D0C6B}" dt="2026-07-05T14:47:57.556" v="1431" actId="1076"/>
          <ac:spMkLst>
            <pc:docMk/>
            <pc:sldMk cId="0" sldId="260"/>
            <ac:spMk id="45" creationId="{00000000-0000-0000-0000-000000000000}"/>
          </ac:spMkLst>
        </pc:spChg>
        <pc:spChg chg="mod">
          <ac:chgData name="Akshaya Kumar" userId="d590c2a79f692ecd" providerId="LiveId" clId="{62FF9259-A617-47C9-8BAE-A2423E8D0C6B}" dt="2026-06-29T07:59:42.174" v="781" actId="12"/>
          <ac:spMkLst>
            <pc:docMk/>
            <pc:sldMk cId="0" sldId="260"/>
            <ac:spMk id="46" creationId="{00000000-0000-0000-0000-000000000000}"/>
          </ac:spMkLst>
        </pc:spChg>
      </pc:sldChg>
      <pc:sldChg chg="modSp mod">
        <pc:chgData name="Akshaya Kumar" userId="d590c2a79f692ecd" providerId="LiveId" clId="{62FF9259-A617-47C9-8BAE-A2423E8D0C6B}" dt="2026-06-29T06:08:43.799" v="458" actId="2711"/>
        <pc:sldMkLst>
          <pc:docMk/>
          <pc:sldMk cId="0" sldId="261"/>
        </pc:sldMkLst>
        <pc:spChg chg="mod">
          <ac:chgData name="Akshaya Kumar" userId="d590c2a79f692ecd" providerId="LiveId" clId="{62FF9259-A617-47C9-8BAE-A2423E8D0C6B}" dt="2026-06-29T05:57:23.196" v="157" actId="207"/>
          <ac:spMkLst>
            <pc:docMk/>
            <pc:sldMk cId="0" sldId="261"/>
            <ac:spMk id="11" creationId="{00000000-0000-0000-0000-000000000000}"/>
          </ac:spMkLst>
        </pc:spChg>
        <pc:spChg chg="mod">
          <ac:chgData name="Akshaya Kumar" userId="d590c2a79f692ecd" providerId="LiveId" clId="{62FF9259-A617-47C9-8BAE-A2423E8D0C6B}" dt="2026-06-29T06:08:00.815" v="453" actId="2711"/>
          <ac:spMkLst>
            <pc:docMk/>
            <pc:sldMk cId="0" sldId="261"/>
            <ac:spMk id="12" creationId="{00000000-0000-0000-0000-000000000000}"/>
          </ac:spMkLst>
        </pc:spChg>
        <pc:spChg chg="mod">
          <ac:chgData name="Akshaya Kumar" userId="d590c2a79f692ecd" providerId="LiveId" clId="{62FF9259-A617-47C9-8BAE-A2423E8D0C6B}" dt="2026-06-29T06:03:16.826" v="218" actId="207"/>
          <ac:spMkLst>
            <pc:docMk/>
            <pc:sldMk cId="0" sldId="261"/>
            <ac:spMk id="16" creationId="{00000000-0000-0000-0000-000000000000}"/>
          </ac:spMkLst>
        </pc:spChg>
        <pc:spChg chg="mod">
          <ac:chgData name="Akshaya Kumar" userId="d590c2a79f692ecd" providerId="LiveId" clId="{62FF9259-A617-47C9-8BAE-A2423E8D0C6B}" dt="2026-06-29T06:08:14.831" v="455" actId="2711"/>
          <ac:spMkLst>
            <pc:docMk/>
            <pc:sldMk cId="0" sldId="261"/>
            <ac:spMk id="17" creationId="{00000000-0000-0000-0000-000000000000}"/>
          </ac:spMkLst>
        </pc:spChg>
        <pc:spChg chg="mod">
          <ac:chgData name="Akshaya Kumar" userId="d590c2a79f692ecd" providerId="LiveId" clId="{62FF9259-A617-47C9-8BAE-A2423E8D0C6B}" dt="2026-06-29T06:04:27.616" v="277" actId="1076"/>
          <ac:spMkLst>
            <pc:docMk/>
            <pc:sldMk cId="0" sldId="261"/>
            <ac:spMk id="18" creationId="{00000000-0000-0000-0000-000000000000}"/>
          </ac:spMkLst>
        </pc:spChg>
        <pc:spChg chg="mod">
          <ac:chgData name="Akshaya Kumar" userId="d590c2a79f692ecd" providerId="LiveId" clId="{62FF9259-A617-47C9-8BAE-A2423E8D0C6B}" dt="2026-06-29T06:03:49.121" v="229" actId="207"/>
          <ac:spMkLst>
            <pc:docMk/>
            <pc:sldMk cId="0" sldId="261"/>
            <ac:spMk id="21" creationId="{00000000-0000-0000-0000-000000000000}"/>
          </ac:spMkLst>
        </pc:spChg>
        <pc:spChg chg="mod">
          <ac:chgData name="Akshaya Kumar" userId="d590c2a79f692ecd" providerId="LiveId" clId="{62FF9259-A617-47C9-8BAE-A2423E8D0C6B}" dt="2026-06-29T06:08:23.613" v="456" actId="2711"/>
          <ac:spMkLst>
            <pc:docMk/>
            <pc:sldMk cId="0" sldId="261"/>
            <ac:spMk id="22" creationId="{00000000-0000-0000-0000-000000000000}"/>
          </ac:spMkLst>
        </pc:spChg>
        <pc:spChg chg="mod">
          <ac:chgData name="Akshaya Kumar" userId="d590c2a79f692ecd" providerId="LiveId" clId="{62FF9259-A617-47C9-8BAE-A2423E8D0C6B}" dt="2026-06-29T06:07:37.723" v="452" actId="1076"/>
          <ac:spMkLst>
            <pc:docMk/>
            <pc:sldMk cId="0" sldId="261"/>
            <ac:spMk id="23" creationId="{00000000-0000-0000-0000-000000000000}"/>
          </ac:spMkLst>
        </pc:spChg>
        <pc:spChg chg="mod">
          <ac:chgData name="Akshaya Kumar" userId="d590c2a79f692ecd" providerId="LiveId" clId="{62FF9259-A617-47C9-8BAE-A2423E8D0C6B}" dt="2026-06-29T06:08:36.316" v="457" actId="2711"/>
          <ac:spMkLst>
            <pc:docMk/>
            <pc:sldMk cId="0" sldId="261"/>
            <ac:spMk id="27" creationId="{00000000-0000-0000-0000-000000000000}"/>
          </ac:spMkLst>
        </pc:spChg>
        <pc:spChg chg="mod">
          <ac:chgData name="Akshaya Kumar" userId="d590c2a79f692ecd" providerId="LiveId" clId="{62FF9259-A617-47C9-8BAE-A2423E8D0C6B}" dt="2026-06-29T06:08:43.799" v="458" actId="2711"/>
          <ac:spMkLst>
            <pc:docMk/>
            <pc:sldMk cId="0" sldId="261"/>
            <ac:spMk id="28" creationId="{00000000-0000-0000-0000-000000000000}"/>
          </ac:spMkLst>
        </pc:spChg>
      </pc:sldChg>
      <pc:sldChg chg="modSp mod">
        <pc:chgData name="Akshaya Kumar" userId="d590c2a79f692ecd" providerId="LiveId" clId="{62FF9259-A617-47C9-8BAE-A2423E8D0C6B}" dt="2026-06-29T05:53:34.643" v="92" actId="1076"/>
        <pc:sldMkLst>
          <pc:docMk/>
          <pc:sldMk cId="0" sldId="264"/>
        </pc:sldMkLst>
        <pc:spChg chg="mod">
          <ac:chgData name="Akshaya Kumar" userId="d590c2a79f692ecd" providerId="LiveId" clId="{62FF9259-A617-47C9-8BAE-A2423E8D0C6B}" dt="2026-06-29T05:53:28.329" v="91" actId="1076"/>
          <ac:spMkLst>
            <pc:docMk/>
            <pc:sldMk cId="0" sldId="264"/>
            <ac:spMk id="57" creationId="{00000000-0000-0000-0000-000000000000}"/>
          </ac:spMkLst>
        </pc:spChg>
        <pc:spChg chg="mod">
          <ac:chgData name="Akshaya Kumar" userId="d590c2a79f692ecd" providerId="LiveId" clId="{62FF9259-A617-47C9-8BAE-A2423E8D0C6B}" dt="2026-06-29T05:53:34.643" v="92" actId="1076"/>
          <ac:spMkLst>
            <pc:docMk/>
            <pc:sldMk cId="0" sldId="264"/>
            <ac:spMk id="5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942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5" name="Text 2"/>
          <p:cNvSpPr/>
          <p:nvPr/>
        </p:nvSpPr>
        <p:spPr>
          <a:xfrm>
            <a:off x="457200" y="2286000"/>
            <a:ext cx="11274552" cy="868680"/>
          </a:xfrm>
          <a:prstGeom prst="rect">
            <a:avLst/>
          </a:prstGeom>
          <a:noFill/>
          <a:ln/>
        </p:spPr>
        <p:txBody>
          <a:bodyPr wrap="square" lIns="0" tIns="0" rIns="0" bIns="0" rtlCol="0" anchor="ctr"/>
          <a:lstStyle/>
          <a:p>
            <a:pPr marL="0" indent="0" algn="ctr">
              <a:buNone/>
            </a:pPr>
            <a:r>
              <a:rPr lang="en-US" sz="4600" b="1" dirty="0">
                <a:solidFill>
                  <a:schemeClr val="accent1">
                    <a:lumMod val="50000"/>
                  </a:schemeClr>
                </a:solidFill>
                <a:latin typeface="Calibri" pitchFamily="34" charset="0"/>
                <a:ea typeface="Calibri" pitchFamily="34" charset="-122"/>
                <a:cs typeface="Calibri" pitchFamily="34" charset="-120"/>
              </a:rPr>
              <a:t>Design Thinking &amp; Innovation</a:t>
            </a:r>
            <a:endParaRPr lang="en-US" sz="4600" dirty="0">
              <a:solidFill>
                <a:schemeClr val="accent1">
                  <a:lumMod val="50000"/>
                </a:schemeClr>
              </a:solidFill>
            </a:endParaRPr>
          </a:p>
        </p:txBody>
      </p:sp>
      <p:sp>
        <p:nvSpPr>
          <p:cNvPr id="6" name="Text 3"/>
          <p:cNvSpPr/>
          <p:nvPr/>
        </p:nvSpPr>
        <p:spPr>
          <a:xfrm>
            <a:off x="457200" y="3310128"/>
            <a:ext cx="11274552" cy="548640"/>
          </a:xfrm>
          <a:prstGeom prst="rect">
            <a:avLst/>
          </a:prstGeom>
          <a:noFill/>
          <a:ln/>
        </p:spPr>
        <p:txBody>
          <a:bodyPr wrap="square" lIns="0" tIns="0" rIns="0" bIns="0" rtlCol="0" anchor="ctr"/>
          <a:lstStyle/>
          <a:p>
            <a:pPr marL="0" indent="0" algn="ctr">
              <a:buNone/>
            </a:pPr>
            <a:r>
              <a:rPr lang="en-US" sz="2800" b="1" kern="0" spc="50" dirty="0">
                <a:solidFill>
                  <a:schemeClr val="accent4">
                    <a:lumMod val="75000"/>
                  </a:schemeClr>
                </a:solidFill>
                <a:latin typeface="Calibri" pitchFamily="34" charset="0"/>
                <a:ea typeface="Calibri" pitchFamily="34" charset="-122"/>
                <a:cs typeface="Calibri" pitchFamily="34" charset="-120"/>
              </a:rPr>
              <a:t>Empathy Talk Presentation</a:t>
            </a:r>
            <a:endParaRPr lang="en-US" sz="2800" dirty="0">
              <a:solidFill>
                <a:schemeClr val="accent4">
                  <a:lumMod val="75000"/>
                </a:schemeClr>
              </a:solidFill>
            </a:endParaRPr>
          </a:p>
        </p:txBody>
      </p:sp>
      <p:sp>
        <p:nvSpPr>
          <p:cNvPr id="7" name="Shape 4"/>
          <p:cNvSpPr/>
          <p:nvPr/>
        </p:nvSpPr>
        <p:spPr>
          <a:xfrm>
            <a:off x="640080" y="4361688"/>
            <a:ext cx="5285232" cy="1755648"/>
          </a:xfrm>
          <a:prstGeom prst="roundRect">
            <a:avLst>
              <a:gd name="adj" fmla="val 5208"/>
            </a:avLst>
          </a:prstGeom>
          <a:solidFill>
            <a:srgbClr val="0E2A5E"/>
          </a:solidFill>
          <a:ln w="12700">
            <a:solidFill>
              <a:srgbClr val="24467F"/>
            </a:solidFill>
            <a:prstDash val="solid"/>
          </a:ln>
          <a:effectLst>
            <a:outerShdw blurRad="88900" dist="38100" dir="5400000" algn="bl" rotWithShape="0">
              <a:srgbClr val="071A45">
                <a:alpha val="12000"/>
              </a:srgbClr>
            </a:outerShdw>
          </a:effectLst>
        </p:spPr>
      </p:sp>
      <p:sp>
        <p:nvSpPr>
          <p:cNvPr id="8" name="Text 5"/>
          <p:cNvSpPr/>
          <p:nvPr/>
        </p:nvSpPr>
        <p:spPr>
          <a:xfrm>
            <a:off x="826008" y="4560637"/>
            <a:ext cx="4754880" cy="274320"/>
          </a:xfrm>
          <a:prstGeom prst="rect">
            <a:avLst/>
          </a:prstGeom>
          <a:noFill/>
          <a:ln/>
        </p:spPr>
        <p:txBody>
          <a:bodyPr wrap="square" lIns="0" tIns="0" rIns="0" bIns="0" rtlCol="0" anchor="ctr"/>
          <a:lstStyle/>
          <a:p>
            <a:pPr marL="0" indent="0">
              <a:buNone/>
            </a:pPr>
            <a:r>
              <a:rPr lang="en-US" sz="1300" b="1" kern="0" spc="300" dirty="0">
                <a:solidFill>
                  <a:srgbClr val="FFC01E"/>
                </a:solidFill>
                <a:latin typeface="Calibri" pitchFamily="34" charset="0"/>
                <a:ea typeface="Calibri" pitchFamily="34" charset="-122"/>
                <a:cs typeface="Calibri" pitchFamily="34" charset="-120"/>
              </a:rPr>
              <a:t>TEAM</a:t>
            </a:r>
            <a:endParaRPr lang="en-US" sz="1300" dirty="0"/>
          </a:p>
        </p:txBody>
      </p:sp>
      <p:sp>
        <p:nvSpPr>
          <p:cNvPr id="9" name="Text 6"/>
          <p:cNvSpPr/>
          <p:nvPr/>
        </p:nvSpPr>
        <p:spPr>
          <a:xfrm>
            <a:off x="882396" y="4937850"/>
            <a:ext cx="4800600" cy="1188720"/>
          </a:xfrm>
          <a:prstGeom prst="rect">
            <a:avLst/>
          </a:prstGeom>
          <a:noFill/>
          <a:ln/>
        </p:spPr>
        <p:txBody>
          <a:bodyPr wrap="square" lIns="0" tIns="0" rIns="0" bIns="0" rtlCol="0" anchor="ctr"/>
          <a:lstStyle/>
          <a:p>
            <a:pPr marL="0" indent="0">
              <a:lnSpc>
                <a:spcPct val="104000"/>
              </a:lnSpc>
              <a:buNone/>
            </a:pPr>
            <a:r>
              <a:rPr lang="en-US" sz="1150" b="1" dirty="0">
                <a:solidFill>
                  <a:srgbClr val="FFFFFF"/>
                </a:solidFill>
                <a:latin typeface="Calibri" pitchFamily="34" charset="0"/>
                <a:ea typeface="Calibri" pitchFamily="34" charset="-122"/>
                <a:cs typeface="Calibri" pitchFamily="34" charset="-120"/>
              </a:rPr>
              <a:t>Team Name / Batch No: </a:t>
            </a:r>
            <a:r>
              <a:rPr lang="en-US" sz="1150" dirty="0">
                <a:solidFill>
                  <a:srgbClr val="C3CDE8"/>
                </a:solidFill>
                <a:latin typeface="Calibri" pitchFamily="34" charset="0"/>
                <a:ea typeface="Calibri" pitchFamily="34" charset="-122"/>
                <a:cs typeface="Calibri" pitchFamily="34" charset="-120"/>
              </a:rPr>
              <a:t>[ VISION MAKERS ]</a:t>
            </a:r>
            <a:endParaRPr lang="en-US" sz="1150" dirty="0"/>
          </a:p>
          <a:p>
            <a:pPr marL="0" indent="0">
              <a:lnSpc>
                <a:spcPct val="104000"/>
              </a:lnSpc>
              <a:buNone/>
            </a:pPr>
            <a:r>
              <a:rPr lang="en-US" sz="1150" b="1" dirty="0">
                <a:solidFill>
                  <a:srgbClr val="FFFFFF"/>
                </a:solidFill>
                <a:latin typeface="Calibri" pitchFamily="34" charset="0"/>
                <a:ea typeface="Calibri" pitchFamily="34" charset="-122"/>
                <a:cs typeface="Calibri" pitchFamily="34" charset="-120"/>
              </a:rPr>
              <a:t>Year &amp; Dept / Section: </a:t>
            </a:r>
            <a:r>
              <a:rPr lang="en-US" sz="1150" dirty="0">
                <a:solidFill>
                  <a:srgbClr val="C3CDE8"/>
                </a:solidFill>
                <a:latin typeface="Calibri" pitchFamily="34" charset="0"/>
                <a:ea typeface="Calibri" pitchFamily="34" charset="-122"/>
                <a:cs typeface="Calibri" pitchFamily="34" charset="-120"/>
              </a:rPr>
              <a:t>[ II/ECE A ]</a:t>
            </a:r>
            <a:endParaRPr lang="en-US" sz="1150" dirty="0"/>
          </a:p>
          <a:p>
            <a:pPr marL="0" indent="0">
              <a:lnSpc>
                <a:spcPct val="104000"/>
              </a:lnSpc>
              <a:buNone/>
            </a:pPr>
            <a:r>
              <a:rPr lang="en-US" sz="1150" b="1" dirty="0">
                <a:solidFill>
                  <a:srgbClr val="FFFFFF"/>
                </a:solidFill>
                <a:latin typeface="Calibri" pitchFamily="34" charset="0"/>
                <a:ea typeface="Calibri" pitchFamily="34" charset="-122"/>
                <a:cs typeface="Calibri" pitchFamily="34" charset="-120"/>
              </a:rPr>
              <a:t>Members:  </a:t>
            </a:r>
            <a:endParaRPr lang="en-US" sz="1150" dirty="0"/>
          </a:p>
          <a:p>
            <a:pPr marL="0" indent="0">
              <a:lnSpc>
                <a:spcPct val="104000"/>
              </a:lnSpc>
              <a:buNone/>
            </a:pPr>
            <a:r>
              <a:rPr lang="en-US" sz="1150" dirty="0">
                <a:solidFill>
                  <a:srgbClr val="C3CDE8"/>
                </a:solidFill>
                <a:latin typeface="Calibri" pitchFamily="34" charset="0"/>
                <a:ea typeface="Calibri" pitchFamily="34" charset="-122"/>
                <a:cs typeface="Calibri" pitchFamily="34" charset="-120"/>
              </a:rPr>
              <a:t>1. [ ABDULKALAM — 25EC002 ]</a:t>
            </a:r>
            <a:endParaRPr lang="en-US" sz="1150" dirty="0"/>
          </a:p>
          <a:p>
            <a:pPr marL="0" indent="0">
              <a:lnSpc>
                <a:spcPct val="104000"/>
              </a:lnSpc>
              <a:buNone/>
            </a:pPr>
            <a:r>
              <a:rPr lang="en-US" sz="1150" dirty="0">
                <a:solidFill>
                  <a:srgbClr val="C3CDE8"/>
                </a:solidFill>
                <a:latin typeface="Calibri" pitchFamily="34" charset="0"/>
                <a:ea typeface="Calibri" pitchFamily="34" charset="-122"/>
                <a:cs typeface="Calibri" pitchFamily="34" charset="-120"/>
              </a:rPr>
              <a:t>2. [ AKSHAYAKUMAR — 25EC013 ]</a:t>
            </a:r>
            <a:endParaRPr lang="en-US" sz="1150" dirty="0"/>
          </a:p>
          <a:p>
            <a:pPr marL="0" indent="0">
              <a:lnSpc>
                <a:spcPct val="104000"/>
              </a:lnSpc>
              <a:buNone/>
            </a:pPr>
            <a:r>
              <a:rPr lang="en-US" sz="1150" dirty="0">
                <a:solidFill>
                  <a:srgbClr val="C3CDE8"/>
                </a:solidFill>
                <a:latin typeface="Calibri" pitchFamily="34" charset="0"/>
                <a:ea typeface="Calibri" pitchFamily="34" charset="-122"/>
                <a:cs typeface="Calibri" pitchFamily="34" charset="-120"/>
              </a:rPr>
              <a:t>3. [ BARATHSURIYA — 25EC024 ]</a:t>
            </a:r>
          </a:p>
          <a:p>
            <a:pPr>
              <a:lnSpc>
                <a:spcPct val="104000"/>
              </a:lnSpc>
            </a:pPr>
            <a:r>
              <a:rPr lang="en-US" sz="1150" dirty="0">
                <a:solidFill>
                  <a:srgbClr val="C3CDE8"/>
                </a:solidFill>
                <a:latin typeface="Calibri" pitchFamily="34" charset="0"/>
                <a:ea typeface="Calibri" pitchFamily="34" charset="-122"/>
                <a:cs typeface="Calibri" pitchFamily="34" charset="-120"/>
              </a:rPr>
              <a:t>3. [ DEVDHARSHAN — 25EC034 ]</a:t>
            </a:r>
            <a:endParaRPr lang="en-US" sz="1150" dirty="0"/>
          </a:p>
          <a:p>
            <a:pPr marL="0" indent="0">
              <a:lnSpc>
                <a:spcPct val="104000"/>
              </a:lnSpc>
              <a:buNone/>
            </a:pPr>
            <a:endParaRPr lang="en-US" sz="1150" dirty="0"/>
          </a:p>
        </p:txBody>
      </p:sp>
      <p:sp>
        <p:nvSpPr>
          <p:cNvPr id="10" name="Shape 7"/>
          <p:cNvSpPr/>
          <p:nvPr/>
        </p:nvSpPr>
        <p:spPr>
          <a:xfrm>
            <a:off x="6263640" y="4361688"/>
            <a:ext cx="5285232" cy="1755648"/>
          </a:xfrm>
          <a:prstGeom prst="roundRect">
            <a:avLst>
              <a:gd name="adj" fmla="val 5208"/>
            </a:avLst>
          </a:prstGeom>
          <a:solidFill>
            <a:srgbClr val="0E2A5E"/>
          </a:solidFill>
          <a:ln w="12700">
            <a:solidFill>
              <a:srgbClr val="24467F"/>
            </a:solidFill>
            <a:prstDash val="solid"/>
          </a:ln>
          <a:effectLst>
            <a:outerShdw blurRad="88900" dist="38100" dir="5400000" algn="bl" rotWithShape="0">
              <a:srgbClr val="071A45">
                <a:alpha val="12000"/>
              </a:srgbClr>
            </a:outerShdw>
          </a:effectLst>
        </p:spPr>
      </p:sp>
      <p:sp>
        <p:nvSpPr>
          <p:cNvPr id="11" name="Text 8"/>
          <p:cNvSpPr/>
          <p:nvPr/>
        </p:nvSpPr>
        <p:spPr>
          <a:xfrm>
            <a:off x="6519672" y="4510421"/>
            <a:ext cx="4846320" cy="274320"/>
          </a:xfrm>
          <a:prstGeom prst="rect">
            <a:avLst/>
          </a:prstGeom>
          <a:noFill/>
          <a:ln/>
        </p:spPr>
        <p:txBody>
          <a:bodyPr wrap="square" lIns="0" tIns="0" rIns="0" bIns="0" rtlCol="0" anchor="ctr"/>
          <a:lstStyle/>
          <a:p>
            <a:pPr marL="0" indent="0">
              <a:buNone/>
            </a:pPr>
            <a:r>
              <a:rPr lang="en-US" sz="1300" b="1" kern="0" spc="300" dirty="0">
                <a:solidFill>
                  <a:srgbClr val="FFC01E"/>
                </a:solidFill>
                <a:latin typeface="Calibri" pitchFamily="34" charset="0"/>
                <a:ea typeface="Calibri" pitchFamily="34" charset="-122"/>
                <a:cs typeface="Calibri" pitchFamily="34" charset="-120"/>
              </a:rPr>
              <a:t>FACULTY MENTOR</a:t>
            </a:r>
            <a:endParaRPr lang="en-US" sz="1300" dirty="0"/>
          </a:p>
        </p:txBody>
      </p:sp>
      <p:sp>
        <p:nvSpPr>
          <p:cNvPr id="12" name="Text 9"/>
          <p:cNvSpPr/>
          <p:nvPr/>
        </p:nvSpPr>
        <p:spPr>
          <a:xfrm>
            <a:off x="6542532" y="4693301"/>
            <a:ext cx="4800600" cy="1188720"/>
          </a:xfrm>
          <a:prstGeom prst="rect">
            <a:avLst/>
          </a:prstGeom>
          <a:noFill/>
          <a:ln/>
        </p:spPr>
        <p:txBody>
          <a:bodyPr wrap="square" lIns="0" tIns="0" rIns="0" bIns="0" rtlCol="0" anchor="ctr"/>
          <a:lstStyle/>
          <a:p>
            <a:pPr marL="0" indent="0">
              <a:lnSpc>
                <a:spcPct val="118000"/>
              </a:lnSpc>
              <a:buNone/>
            </a:pPr>
            <a:r>
              <a:rPr lang="en-US" sz="1150" b="1" dirty="0">
                <a:solidFill>
                  <a:srgbClr val="FFFFFF"/>
                </a:solidFill>
                <a:latin typeface="Calibri" pitchFamily="34" charset="0"/>
                <a:ea typeface="Calibri" pitchFamily="34" charset="-122"/>
                <a:cs typeface="Calibri" pitchFamily="34" charset="-120"/>
              </a:rPr>
              <a:t>Name:  </a:t>
            </a:r>
            <a:r>
              <a:rPr lang="en-US" sz="1150" dirty="0">
                <a:solidFill>
                  <a:srgbClr val="C3CDE8"/>
                </a:solidFill>
                <a:latin typeface="Calibri" pitchFamily="34" charset="0"/>
                <a:ea typeface="Calibri" pitchFamily="34" charset="-122"/>
                <a:cs typeface="Calibri" pitchFamily="34" charset="-120"/>
              </a:rPr>
              <a:t>[ </a:t>
            </a:r>
            <a:r>
              <a:rPr lang="en-US" sz="1150" dirty="0" err="1">
                <a:solidFill>
                  <a:srgbClr val="C3CDE8"/>
                </a:solidFill>
                <a:latin typeface="Calibri" pitchFamily="34" charset="0"/>
                <a:ea typeface="Calibri" pitchFamily="34" charset="-122"/>
                <a:cs typeface="Calibri" pitchFamily="34" charset="-120"/>
              </a:rPr>
              <a:t>Mr</a:t>
            </a:r>
            <a:r>
              <a:rPr lang="en-US" sz="1150" dirty="0">
                <a:solidFill>
                  <a:srgbClr val="C3CDE8"/>
                </a:solidFill>
                <a:latin typeface="Calibri" pitchFamily="34" charset="0"/>
                <a:ea typeface="Calibri" pitchFamily="34" charset="-122"/>
                <a:cs typeface="Calibri" pitchFamily="34" charset="-120"/>
              </a:rPr>
              <a:t> A. Ramesh ]</a:t>
            </a:r>
            <a:endParaRPr lang="en-US" sz="1150" dirty="0"/>
          </a:p>
          <a:p>
            <a:pPr marL="0" indent="0">
              <a:lnSpc>
                <a:spcPct val="118000"/>
              </a:lnSpc>
              <a:buNone/>
            </a:pPr>
            <a:r>
              <a:rPr lang="en-US" sz="1150" b="1" dirty="0">
                <a:solidFill>
                  <a:srgbClr val="FFFFFF"/>
                </a:solidFill>
                <a:latin typeface="Calibri" pitchFamily="34" charset="0"/>
                <a:ea typeface="Calibri" pitchFamily="34" charset="-122"/>
                <a:cs typeface="Calibri" pitchFamily="34" charset="-120"/>
              </a:rPr>
              <a:t>Designation:  </a:t>
            </a:r>
            <a:r>
              <a:rPr lang="en-US" sz="1150" dirty="0">
                <a:solidFill>
                  <a:srgbClr val="C3CDE8"/>
                </a:solidFill>
                <a:latin typeface="Calibri" pitchFamily="34" charset="0"/>
                <a:ea typeface="Calibri" pitchFamily="34" charset="-122"/>
                <a:cs typeface="Calibri" pitchFamily="34" charset="-120"/>
              </a:rPr>
              <a:t>[ Assistant Professor ]</a:t>
            </a:r>
            <a:endParaRPr lang="en-US" sz="1150" dirty="0"/>
          </a:p>
          <a:p>
            <a:pPr marL="0" indent="0">
              <a:lnSpc>
                <a:spcPct val="118000"/>
              </a:lnSpc>
              <a:buNone/>
            </a:pPr>
            <a:r>
              <a:rPr lang="en-US" sz="1150" b="1" dirty="0">
                <a:solidFill>
                  <a:srgbClr val="FFFFFF"/>
                </a:solidFill>
                <a:latin typeface="Calibri" pitchFamily="34" charset="0"/>
                <a:ea typeface="Calibri" pitchFamily="34" charset="-122"/>
                <a:cs typeface="Calibri" pitchFamily="34" charset="-120"/>
              </a:rPr>
              <a:t>Department:  </a:t>
            </a:r>
            <a:r>
              <a:rPr lang="en-US" sz="1150" dirty="0">
                <a:solidFill>
                  <a:srgbClr val="C3CDE8"/>
                </a:solidFill>
                <a:latin typeface="Calibri" pitchFamily="34" charset="0"/>
                <a:ea typeface="Calibri" pitchFamily="34" charset="-122"/>
                <a:cs typeface="Calibri" pitchFamily="34" charset="-120"/>
              </a:rPr>
              <a:t>[ECE ]</a:t>
            </a:r>
            <a:endParaRPr lang="en-US" sz="1150" dirty="0"/>
          </a:p>
        </p:txBody>
      </p:sp>
      <p:pic>
        <p:nvPicPr>
          <p:cNvPr id="14" name="Picture 13">
            <a:extLst>
              <a:ext uri="{FF2B5EF4-FFF2-40B4-BE49-F238E27FC236}">
                <a16:creationId xmlns:a16="http://schemas.microsoft.com/office/drawing/2014/main" id="{0BB6F3AC-A25B-FA81-D01B-8830AA3166B6}"/>
              </a:ext>
            </a:extLst>
          </p:cNvPr>
          <p:cNvPicPr>
            <a:picLocks noChangeAspect="1"/>
          </p:cNvPicPr>
          <p:nvPr/>
        </p:nvPicPr>
        <p:blipFill>
          <a:blip r:embed="rId3"/>
          <a:stretch>
            <a:fillRect/>
          </a:stretch>
        </p:blipFill>
        <p:spPr>
          <a:xfrm>
            <a:off x="3609471" y="766875"/>
            <a:ext cx="4462991" cy="1242400"/>
          </a:xfrm>
          <a:prstGeom prst="rect">
            <a:avLst/>
          </a:prstGeom>
        </p:spPr>
      </p:pic>
      <p:pic>
        <p:nvPicPr>
          <p:cNvPr id="18" name="Picture 17">
            <a:extLst>
              <a:ext uri="{FF2B5EF4-FFF2-40B4-BE49-F238E27FC236}">
                <a16:creationId xmlns:a16="http://schemas.microsoft.com/office/drawing/2014/main" id="{F5C50F42-22C5-4882-0565-C577D168A2AD}"/>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dirty="0">
                <a:solidFill>
                  <a:srgbClr val="071A45"/>
                </a:solidFill>
                <a:latin typeface="Calibri" pitchFamily="34" charset="0"/>
                <a:ea typeface="Calibri" pitchFamily="34" charset="-122"/>
                <a:cs typeface="Calibri" pitchFamily="34" charset="-120"/>
              </a:rPr>
              <a:t>Meet Our User</a:t>
            </a:r>
            <a:endParaRPr lang="en-US" sz="2900" dirty="0"/>
          </a:p>
        </p:txBody>
      </p:sp>
      <p:sp>
        <p:nvSpPr>
          <p:cNvPr id="5" name="Shape 1"/>
          <p:cNvSpPr/>
          <p:nvPr/>
        </p:nvSpPr>
        <p:spPr>
          <a:xfrm>
            <a:off x="640080" y="1691640"/>
            <a:ext cx="3977640" cy="4297680"/>
          </a:xfrm>
          <a:prstGeom prst="roundRect">
            <a:avLst>
              <a:gd name="adj" fmla="val 2299"/>
            </a:avLst>
          </a:prstGeom>
          <a:solidFill>
            <a:srgbClr val="EDEFF5"/>
          </a:solidFill>
          <a:ln w="12700">
            <a:solidFill>
              <a:srgbClr val="DFE4EE"/>
            </a:solidFill>
            <a:prstDash val="solid"/>
          </a:ln>
          <a:effectLst>
            <a:outerShdw blurRad="88900" dist="38100" dir="5400000" algn="bl" rotWithShape="0">
              <a:srgbClr val="071A45">
                <a:alpha val="12000"/>
              </a:srgbClr>
            </a:outerShdw>
          </a:effectLst>
        </p:spPr>
      </p:sp>
      <p:pic>
        <p:nvPicPr>
          <p:cNvPr id="6" name="Image 2" descr="preencoded.png"/>
          <p:cNvPicPr>
            <a:picLocks noChangeAspect="1"/>
          </p:cNvPicPr>
          <p:nvPr/>
        </p:nvPicPr>
        <p:blipFill>
          <a:blip r:embed="rId4"/>
          <a:stretch>
            <a:fillRect/>
          </a:stretch>
        </p:blipFill>
        <p:spPr>
          <a:xfrm>
            <a:off x="2331720" y="3246120"/>
            <a:ext cx="594360" cy="594360"/>
          </a:xfrm>
          <a:prstGeom prst="rect">
            <a:avLst/>
          </a:prstGeom>
        </p:spPr>
      </p:pic>
      <p:sp>
        <p:nvSpPr>
          <p:cNvPr id="7" name="Text 2"/>
          <p:cNvSpPr/>
          <p:nvPr/>
        </p:nvSpPr>
        <p:spPr>
          <a:xfrm>
            <a:off x="914400" y="3977640"/>
            <a:ext cx="3429000" cy="457200"/>
          </a:xfrm>
          <a:prstGeom prst="rect">
            <a:avLst/>
          </a:prstGeom>
          <a:noFill/>
          <a:ln/>
        </p:spPr>
        <p:txBody>
          <a:bodyPr wrap="square" lIns="0" tIns="0" rIns="0" bIns="0" rtlCol="0" anchor="ctr"/>
          <a:lstStyle/>
          <a:p>
            <a:pPr marL="0" indent="0" algn="ctr">
              <a:buNone/>
            </a:pPr>
            <a:r>
              <a:rPr lang="en-US" sz="1100" i="1" dirty="0">
                <a:solidFill>
                  <a:srgbClr val="8A93A8"/>
                </a:solidFill>
                <a:latin typeface="Calibri" pitchFamily="34" charset="0"/>
                <a:ea typeface="Calibri" pitchFamily="34" charset="-122"/>
                <a:cs typeface="Calibri" pitchFamily="34" charset="-120"/>
              </a:rPr>
              <a:t>Add a photo or sketch of your user</a:t>
            </a:r>
            <a:endParaRPr lang="en-US" sz="1100" dirty="0"/>
          </a:p>
        </p:txBody>
      </p:sp>
      <p:sp>
        <p:nvSpPr>
          <p:cNvPr id="8" name="Shape 3"/>
          <p:cNvSpPr/>
          <p:nvPr/>
        </p:nvSpPr>
        <p:spPr>
          <a:xfrm>
            <a:off x="4937760" y="1691640"/>
            <a:ext cx="6629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r>
              <a:rPr lang="en-IN" dirty="0"/>
              <a:t>	      </a:t>
            </a:r>
          </a:p>
          <a:p>
            <a:r>
              <a:rPr lang="en-IN" dirty="0"/>
              <a:t>                            </a:t>
            </a:r>
            <a:r>
              <a:rPr lang="en-IN" b="1" dirty="0">
                <a:latin typeface="Times New Roman" panose="02020603050405020304" pitchFamily="18" charset="0"/>
                <a:cs typeface="Times New Roman" panose="02020603050405020304" pitchFamily="18" charset="0"/>
              </a:rPr>
              <a:t>Mr Manokaran</a:t>
            </a:r>
          </a:p>
        </p:txBody>
      </p:sp>
      <p:sp>
        <p:nvSpPr>
          <p:cNvPr id="9" name="Text 4"/>
          <p:cNvSpPr/>
          <p:nvPr/>
        </p:nvSpPr>
        <p:spPr>
          <a:xfrm>
            <a:off x="5138928" y="1837944"/>
            <a:ext cx="6263640"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Who are they?</a:t>
            </a:r>
            <a:endParaRPr lang="en-US" sz="1350" dirty="0"/>
          </a:p>
        </p:txBody>
      </p:sp>
      <p:sp>
        <p:nvSpPr>
          <p:cNvPr id="10" name="Text 5"/>
          <p:cNvSpPr/>
          <p:nvPr/>
        </p:nvSpPr>
        <p:spPr>
          <a:xfrm>
            <a:off x="5138928" y="2042000"/>
            <a:ext cx="6263640" cy="457200"/>
          </a:xfrm>
          <a:prstGeom prst="rect">
            <a:avLst/>
          </a:prstGeom>
          <a:noFill/>
          <a:ln/>
        </p:spPr>
        <p:txBody>
          <a:bodyPr wrap="square" lIns="0" tIns="0" rIns="0" bIns="0" rtlCol="0" anchor="ctr"/>
          <a:lstStyle/>
          <a:p>
            <a:pPr marL="0" indent="0">
              <a:lnSpc>
                <a:spcPct val="95000"/>
              </a:lnSpc>
              <a:buNone/>
            </a:pPr>
            <a:endParaRPr lang="en-US" sz="1000" dirty="0"/>
          </a:p>
        </p:txBody>
      </p:sp>
      <p:sp>
        <p:nvSpPr>
          <p:cNvPr id="11" name="Shape 6"/>
          <p:cNvSpPr/>
          <p:nvPr/>
        </p:nvSpPr>
        <p:spPr>
          <a:xfrm>
            <a:off x="4937760" y="2514600"/>
            <a:ext cx="3200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dirty="0"/>
          </a:p>
          <a:p>
            <a:r>
              <a:rPr lang="en-IN" dirty="0"/>
              <a:t>	</a:t>
            </a:r>
            <a:r>
              <a:rPr lang="en-IN" b="1" dirty="0">
                <a:latin typeface="Times New Roman" panose="02020603050405020304" pitchFamily="18" charset="0"/>
                <a:cs typeface="Times New Roman" panose="02020603050405020304" pitchFamily="18" charset="0"/>
              </a:rPr>
              <a:t>Project  Director</a:t>
            </a:r>
          </a:p>
        </p:txBody>
      </p:sp>
      <p:sp>
        <p:nvSpPr>
          <p:cNvPr id="12" name="Text 7"/>
          <p:cNvSpPr/>
          <p:nvPr/>
        </p:nvSpPr>
        <p:spPr>
          <a:xfrm>
            <a:off x="5138928" y="2660904"/>
            <a:ext cx="2834640"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Role / Occupation</a:t>
            </a:r>
          </a:p>
          <a:p>
            <a:pPr marL="0" indent="0">
              <a:buNone/>
            </a:pPr>
            <a:endParaRPr lang="en-US" sz="1350" dirty="0"/>
          </a:p>
        </p:txBody>
      </p:sp>
      <p:sp>
        <p:nvSpPr>
          <p:cNvPr id="13" name="Shape 8"/>
          <p:cNvSpPr/>
          <p:nvPr/>
        </p:nvSpPr>
        <p:spPr>
          <a:xfrm>
            <a:off x="8366760" y="2514600"/>
            <a:ext cx="3200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dirty="0"/>
          </a:p>
          <a:p>
            <a:r>
              <a:rPr lang="en-IN" dirty="0"/>
              <a:t>                   </a:t>
            </a:r>
            <a:r>
              <a:rPr lang="en-IN" b="1" dirty="0">
                <a:latin typeface="Times New Roman" panose="02020603050405020304" pitchFamily="18" charset="0"/>
                <a:cs typeface="Times New Roman" panose="02020603050405020304" pitchFamily="18" charset="0"/>
              </a:rPr>
              <a:t>67</a:t>
            </a:r>
          </a:p>
        </p:txBody>
      </p:sp>
      <p:sp>
        <p:nvSpPr>
          <p:cNvPr id="14" name="Text 9"/>
          <p:cNvSpPr/>
          <p:nvPr/>
        </p:nvSpPr>
        <p:spPr>
          <a:xfrm>
            <a:off x="8567928" y="2660904"/>
            <a:ext cx="2834640"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Age group</a:t>
            </a:r>
            <a:endParaRPr lang="en-US" sz="1350" dirty="0"/>
          </a:p>
        </p:txBody>
      </p:sp>
      <p:sp>
        <p:nvSpPr>
          <p:cNvPr id="15" name="Shape 10"/>
          <p:cNvSpPr/>
          <p:nvPr/>
        </p:nvSpPr>
        <p:spPr>
          <a:xfrm>
            <a:off x="4937760" y="3337560"/>
            <a:ext cx="3200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dirty="0"/>
          </a:p>
          <a:p>
            <a:r>
              <a:rPr lang="en-IN" b="1" dirty="0">
                <a:latin typeface="Times New Roman" panose="02020603050405020304" pitchFamily="18" charset="0"/>
                <a:cs typeface="Times New Roman" panose="02020603050405020304" pitchFamily="18" charset="0"/>
              </a:rPr>
              <a:t>         Coimbatore, Tamil Nadu</a:t>
            </a:r>
          </a:p>
        </p:txBody>
      </p:sp>
      <p:sp>
        <p:nvSpPr>
          <p:cNvPr id="16" name="Text 11"/>
          <p:cNvSpPr/>
          <p:nvPr/>
        </p:nvSpPr>
        <p:spPr>
          <a:xfrm>
            <a:off x="5138928" y="3483864"/>
            <a:ext cx="2834640"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Location</a:t>
            </a:r>
            <a:endParaRPr lang="en-US" sz="1350" dirty="0"/>
          </a:p>
        </p:txBody>
      </p:sp>
      <p:sp>
        <p:nvSpPr>
          <p:cNvPr id="17" name="Text 12"/>
          <p:cNvSpPr/>
          <p:nvPr/>
        </p:nvSpPr>
        <p:spPr>
          <a:xfrm>
            <a:off x="5138928" y="3697545"/>
            <a:ext cx="2834640" cy="457200"/>
          </a:xfrm>
          <a:prstGeom prst="rect">
            <a:avLst/>
          </a:prstGeom>
          <a:noFill/>
          <a:ln/>
        </p:spPr>
        <p:txBody>
          <a:bodyPr wrap="square" lIns="0" tIns="0" rIns="0" bIns="0" rtlCol="0" anchor="ctr"/>
          <a:lstStyle/>
          <a:p>
            <a:pPr marL="0" indent="0">
              <a:lnSpc>
                <a:spcPct val="95000"/>
              </a:lnSpc>
              <a:buNone/>
            </a:pPr>
            <a:endParaRPr lang="en-US" sz="1000" dirty="0"/>
          </a:p>
        </p:txBody>
      </p:sp>
      <p:sp>
        <p:nvSpPr>
          <p:cNvPr id="18" name="Shape 13"/>
          <p:cNvSpPr/>
          <p:nvPr/>
        </p:nvSpPr>
        <p:spPr>
          <a:xfrm>
            <a:off x="8366760" y="3337560"/>
            <a:ext cx="3200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9" name="Text 14"/>
          <p:cNvSpPr/>
          <p:nvPr/>
        </p:nvSpPr>
        <p:spPr>
          <a:xfrm>
            <a:off x="8567928" y="3570732"/>
            <a:ext cx="2834640"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Where we met them</a:t>
            </a:r>
          </a:p>
          <a:p>
            <a:r>
              <a:rPr lang="en-IN" sz="1400" b="1" dirty="0">
                <a:latin typeface="Times New Roman" panose="02020603050405020304" pitchFamily="18" charset="0"/>
                <a:cs typeface="Times New Roman" panose="02020603050405020304" pitchFamily="18" charset="0"/>
              </a:rPr>
              <a:t>National Federation of the Blind during our field visit.</a:t>
            </a:r>
            <a:endParaRPr lang="en-US" sz="1350" b="1" dirty="0">
              <a:latin typeface="Times New Roman" panose="02020603050405020304" pitchFamily="18" charset="0"/>
              <a:cs typeface="Times New Roman" panose="02020603050405020304" pitchFamily="18" charset="0"/>
            </a:endParaRPr>
          </a:p>
        </p:txBody>
      </p:sp>
      <p:sp>
        <p:nvSpPr>
          <p:cNvPr id="20" name="Shape 15"/>
          <p:cNvSpPr/>
          <p:nvPr/>
        </p:nvSpPr>
        <p:spPr>
          <a:xfrm>
            <a:off x="4956048" y="4318855"/>
            <a:ext cx="6629400" cy="1764792"/>
          </a:xfrm>
          <a:prstGeom prst="roundRect">
            <a:avLst>
              <a:gd name="adj" fmla="val 5181"/>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pic>
        <p:nvPicPr>
          <p:cNvPr id="21" name="Image 3" descr="preencoded.png"/>
          <p:cNvPicPr>
            <a:picLocks noChangeAspect="1"/>
          </p:cNvPicPr>
          <p:nvPr/>
        </p:nvPicPr>
        <p:blipFill>
          <a:blip r:embed="rId5"/>
          <a:stretch>
            <a:fillRect/>
          </a:stretch>
        </p:blipFill>
        <p:spPr>
          <a:xfrm>
            <a:off x="5193792" y="4480560"/>
            <a:ext cx="365760" cy="365760"/>
          </a:xfrm>
          <a:prstGeom prst="rect">
            <a:avLst/>
          </a:prstGeom>
        </p:spPr>
      </p:pic>
      <p:sp>
        <p:nvSpPr>
          <p:cNvPr id="22" name="Text 16"/>
          <p:cNvSpPr/>
          <p:nvPr/>
        </p:nvSpPr>
        <p:spPr>
          <a:xfrm>
            <a:off x="5715000" y="4443984"/>
            <a:ext cx="4572000" cy="310896"/>
          </a:xfrm>
          <a:prstGeom prst="rect">
            <a:avLst/>
          </a:prstGeom>
          <a:noFill/>
          <a:ln/>
        </p:spPr>
        <p:txBody>
          <a:bodyPr wrap="square" lIns="0" tIns="0" rIns="0" bIns="0" rtlCol="0" anchor="ctr"/>
          <a:lstStyle/>
          <a:p>
            <a:pPr marL="0" indent="0">
              <a:buNone/>
            </a:pPr>
            <a:r>
              <a:rPr lang="en-US" sz="1350" b="1" dirty="0">
                <a:solidFill>
                  <a:srgbClr val="9A6B12"/>
                </a:solidFill>
                <a:latin typeface="Calibri" pitchFamily="34" charset="0"/>
                <a:ea typeface="Calibri" pitchFamily="34" charset="-122"/>
                <a:cs typeface="Calibri" pitchFamily="34" charset="-120"/>
              </a:rPr>
              <a:t>In their words</a:t>
            </a:r>
            <a:endParaRPr lang="en-US" sz="1350" dirty="0"/>
          </a:p>
        </p:txBody>
      </p:sp>
      <p:sp>
        <p:nvSpPr>
          <p:cNvPr id="23" name="Text 17"/>
          <p:cNvSpPr/>
          <p:nvPr/>
        </p:nvSpPr>
        <p:spPr>
          <a:xfrm>
            <a:off x="5376672" y="4962063"/>
            <a:ext cx="6080760" cy="1005840"/>
          </a:xfrm>
          <a:prstGeom prst="rect">
            <a:avLst/>
          </a:prstGeom>
          <a:noFill/>
          <a:ln/>
        </p:spPr>
        <p:txBody>
          <a:bodyPr wrap="square" lIns="0" tIns="0" rIns="0" bIns="0" rtlCol="0" anchor="t"/>
          <a:lstStyle/>
          <a:p>
            <a:pPr algn="ctr">
              <a:lnSpc>
                <a:spcPct val="105000"/>
              </a:lnSpc>
            </a:pPr>
            <a:r>
              <a:rPr lang="en-IN" b="1" dirty="0">
                <a:latin typeface="Times New Roman" panose="02020603050405020304" pitchFamily="18" charset="0"/>
                <a:cs typeface="Times New Roman" panose="02020603050405020304" pitchFamily="18" charset="0"/>
              </a:rPr>
              <a:t>"We don't </a:t>
            </a:r>
            <a:r>
              <a:rPr lang="en-IN" b="1">
                <a:latin typeface="Times New Roman" panose="02020603050405020304" pitchFamily="18" charset="0"/>
                <a:cs typeface="Times New Roman" panose="02020603050405020304" pitchFamily="18" charset="0"/>
              </a:rPr>
              <a:t>need sympathy we </a:t>
            </a:r>
            <a:r>
              <a:rPr lang="en-IN" b="1" dirty="0">
                <a:latin typeface="Times New Roman" panose="02020603050405020304" pitchFamily="18" charset="0"/>
                <a:cs typeface="Times New Roman" panose="02020603050405020304" pitchFamily="18" charset="0"/>
              </a:rPr>
              <a:t>need technology that helps us live independently and safely."</a:t>
            </a:r>
            <a:endParaRPr lang="en-US" b="1" dirty="0">
              <a:latin typeface="Times New Roman" panose="02020603050405020304" pitchFamily="18" charset="0"/>
              <a:cs typeface="Times New Roman" panose="02020603050405020304" pitchFamily="18" charset="0"/>
            </a:endParaRPr>
          </a:p>
        </p:txBody>
      </p:sp>
      <p:sp>
        <p:nvSpPr>
          <p:cNvPr id="24" name="Text 18"/>
          <p:cNvSpPr/>
          <p:nvPr/>
        </p:nvSpPr>
        <p:spPr>
          <a:xfrm>
            <a:off x="502920" y="6455664"/>
            <a:ext cx="8229600" cy="274320"/>
          </a:xfrm>
          <a:prstGeom prst="rect">
            <a:avLst/>
          </a:prstGeom>
          <a:noFill/>
          <a:ln/>
        </p:spPr>
        <p:txBody>
          <a:bodyPr wrap="square" lIns="0" tIns="0" rIns="0" bIns="0" rtlCol="0" anchor="ctr"/>
          <a:lstStyle/>
          <a:p>
            <a:pPr marL="0" indent="0">
              <a:buNone/>
            </a:pPr>
            <a:r>
              <a:rPr lang="en-US" sz="900" dirty="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dirty="0"/>
          </a:p>
        </p:txBody>
      </p:sp>
      <p:pic>
        <p:nvPicPr>
          <p:cNvPr id="30" name="Picture 29">
            <a:extLst>
              <a:ext uri="{FF2B5EF4-FFF2-40B4-BE49-F238E27FC236}">
                <a16:creationId xmlns:a16="http://schemas.microsoft.com/office/drawing/2014/main" id="{DD1C5338-9F12-2A72-0991-47C52A36BDD2}"/>
              </a:ext>
            </a:extLst>
          </p:cNvPr>
          <p:cNvPicPr>
            <a:picLocks noChangeAspect="1"/>
          </p:cNvPicPr>
          <p:nvPr/>
        </p:nvPicPr>
        <p:blipFill>
          <a:blip r:embed="rId6"/>
          <a:stretch>
            <a:fillRect/>
          </a:stretch>
        </p:blipFill>
        <p:spPr>
          <a:xfrm>
            <a:off x="10363654" y="371776"/>
            <a:ext cx="1325426" cy="603504"/>
          </a:xfrm>
          <a:prstGeom prst="rect">
            <a:avLst/>
          </a:prstGeom>
        </p:spPr>
      </p:pic>
      <p:pic>
        <p:nvPicPr>
          <p:cNvPr id="25" name="Picture 24">
            <a:extLst>
              <a:ext uri="{FF2B5EF4-FFF2-40B4-BE49-F238E27FC236}">
                <a16:creationId xmlns:a16="http://schemas.microsoft.com/office/drawing/2014/main" id="{720F90F4-593C-22A0-0147-48CE3C1D528B}"/>
              </a:ext>
            </a:extLst>
          </p:cNvPr>
          <p:cNvPicPr>
            <a:picLocks noChangeAspect="1"/>
          </p:cNvPicPr>
          <p:nvPr/>
        </p:nvPicPr>
        <p:blipFill>
          <a:blip r:embed="rId7"/>
          <a:stretch>
            <a:fillRect/>
          </a:stretch>
        </p:blipFill>
        <p:spPr>
          <a:xfrm>
            <a:off x="662959" y="2374890"/>
            <a:ext cx="3931882" cy="30134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dirty="0">
                <a:solidFill>
                  <a:srgbClr val="071A45"/>
                </a:solidFill>
                <a:latin typeface="Calibri" pitchFamily="34" charset="0"/>
                <a:ea typeface="Calibri" pitchFamily="34" charset="-122"/>
                <a:cs typeface="Calibri" pitchFamily="34" charset="-120"/>
              </a:rPr>
              <a:t>How We Built Empathy</a:t>
            </a:r>
            <a:endParaRPr lang="en-US" sz="2900" dirty="0"/>
          </a:p>
        </p:txBody>
      </p:sp>
      <p:sp>
        <p:nvSpPr>
          <p:cNvPr id="5" name="Text 1"/>
          <p:cNvSpPr/>
          <p:nvPr/>
        </p:nvSpPr>
        <p:spPr>
          <a:xfrm>
            <a:off x="502920" y="1463040"/>
            <a:ext cx="11155680" cy="365760"/>
          </a:xfrm>
          <a:prstGeom prst="rect">
            <a:avLst/>
          </a:prstGeom>
          <a:noFill/>
          <a:ln/>
        </p:spPr>
        <p:txBody>
          <a:bodyPr wrap="square" lIns="0" tIns="0" rIns="0" bIns="0" rtlCol="0" anchor="ctr"/>
          <a:lstStyle/>
          <a:p>
            <a:pPr marL="0" indent="0">
              <a:buNone/>
            </a:pPr>
            <a:r>
              <a:rPr lang="en-US" sz="1350" b="1" dirty="0">
                <a:solidFill>
                  <a:srgbClr val="071A45"/>
                </a:solidFill>
                <a:latin typeface="Calibri" pitchFamily="34" charset="0"/>
                <a:ea typeface="Calibri" pitchFamily="34" charset="-122"/>
                <a:cs typeface="Calibri" pitchFamily="34" charset="-120"/>
              </a:rPr>
              <a:t>What to do:  </a:t>
            </a:r>
            <a:r>
              <a:rPr lang="en-US" sz="1350" dirty="0">
                <a:solidFill>
                  <a:srgbClr val="5B6685"/>
                </a:solidFill>
                <a:latin typeface="Calibri" pitchFamily="34" charset="0"/>
                <a:ea typeface="Calibri" pitchFamily="34" charset="-122"/>
                <a:cs typeface="Calibri" pitchFamily="34" charset="-120"/>
              </a:rPr>
              <a:t>In each step, write what YOUR team actually did to understand your user. </a:t>
            </a:r>
            <a:r>
              <a:rPr lang="en-US" sz="1350" i="1" dirty="0">
                <a:solidFill>
                  <a:srgbClr val="8A93A8"/>
                </a:solidFill>
                <a:latin typeface="Calibri" pitchFamily="34" charset="0"/>
                <a:ea typeface="Calibri" pitchFamily="34" charset="-122"/>
                <a:cs typeface="Calibri" pitchFamily="34" charset="-120"/>
              </a:rPr>
              <a:t>A sample is shown in grey — replace it with your own.</a:t>
            </a:r>
            <a:endParaRPr lang="en-US" sz="1350" dirty="0"/>
          </a:p>
        </p:txBody>
      </p:sp>
      <p:sp>
        <p:nvSpPr>
          <p:cNvPr id="6" name="Shape 2"/>
          <p:cNvSpPr/>
          <p:nvPr/>
        </p:nvSpPr>
        <p:spPr>
          <a:xfrm>
            <a:off x="640080" y="2011680"/>
            <a:ext cx="3529584" cy="4069080"/>
          </a:xfrm>
          <a:prstGeom prst="roundRect">
            <a:avLst>
              <a:gd name="adj" fmla="val 2591"/>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7" name="Shape 3"/>
          <p:cNvSpPr/>
          <p:nvPr/>
        </p:nvSpPr>
        <p:spPr>
          <a:xfrm>
            <a:off x="1965960" y="2304288"/>
            <a:ext cx="877824" cy="877824"/>
          </a:xfrm>
          <a:prstGeom prst="ellipse">
            <a:avLst/>
          </a:prstGeom>
          <a:solidFill>
            <a:srgbClr val="E9EFFC"/>
          </a:solidFill>
          <a:ln w="12700">
            <a:solidFill>
              <a:srgbClr val="D2DEF8"/>
            </a:solidFill>
            <a:prstDash val="solid"/>
          </a:ln>
        </p:spPr>
      </p:sp>
      <p:pic>
        <p:nvPicPr>
          <p:cNvPr id="8" name="Image 2" descr="preencoded.png"/>
          <p:cNvPicPr>
            <a:picLocks noChangeAspect="1"/>
          </p:cNvPicPr>
          <p:nvPr/>
        </p:nvPicPr>
        <p:blipFill>
          <a:blip r:embed="rId4"/>
          <a:stretch>
            <a:fillRect/>
          </a:stretch>
        </p:blipFill>
        <p:spPr>
          <a:xfrm>
            <a:off x="2157984" y="2478024"/>
            <a:ext cx="493776" cy="493776"/>
          </a:xfrm>
          <a:prstGeom prst="rect">
            <a:avLst/>
          </a:prstGeom>
        </p:spPr>
      </p:pic>
      <p:sp>
        <p:nvSpPr>
          <p:cNvPr id="9" name="Shape 4"/>
          <p:cNvSpPr/>
          <p:nvPr/>
        </p:nvSpPr>
        <p:spPr>
          <a:xfrm>
            <a:off x="859536" y="2231136"/>
            <a:ext cx="365760" cy="365760"/>
          </a:xfrm>
          <a:prstGeom prst="ellipse">
            <a:avLst/>
          </a:prstGeom>
          <a:solidFill>
            <a:srgbClr val="FFC01E"/>
          </a:solidFill>
          <a:ln/>
        </p:spPr>
      </p:sp>
      <p:sp>
        <p:nvSpPr>
          <p:cNvPr id="10" name="Text 5"/>
          <p:cNvSpPr/>
          <p:nvPr/>
        </p:nvSpPr>
        <p:spPr>
          <a:xfrm>
            <a:off x="859536" y="2231136"/>
            <a:ext cx="365760" cy="365760"/>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1</a:t>
            </a:r>
            <a:endParaRPr lang="en-US" sz="1400" dirty="0"/>
          </a:p>
        </p:txBody>
      </p:sp>
      <p:sp>
        <p:nvSpPr>
          <p:cNvPr id="11" name="Text 6"/>
          <p:cNvSpPr/>
          <p:nvPr/>
        </p:nvSpPr>
        <p:spPr>
          <a:xfrm>
            <a:off x="640080" y="3310128"/>
            <a:ext cx="3529584" cy="365760"/>
          </a:xfrm>
          <a:prstGeom prst="rect">
            <a:avLst/>
          </a:prstGeom>
          <a:noFill/>
          <a:ln/>
        </p:spPr>
        <p:txBody>
          <a:bodyPr wrap="square" lIns="0" tIns="0" rIns="0" bIns="0" rtlCol="0" anchor="ctr"/>
          <a:lstStyle/>
          <a:p>
            <a:pPr marL="0" indent="0" algn="ctr">
              <a:buNone/>
            </a:pPr>
            <a:r>
              <a:rPr lang="en-US" sz="2000" b="1" dirty="0">
                <a:solidFill>
                  <a:srgbClr val="071A45"/>
                </a:solidFill>
                <a:latin typeface="Calibri" pitchFamily="34" charset="0"/>
                <a:ea typeface="Calibri" pitchFamily="34" charset="-122"/>
                <a:cs typeface="Calibri" pitchFamily="34" charset="-120"/>
              </a:rPr>
              <a:t>Observe</a:t>
            </a:r>
            <a:endParaRPr lang="en-US" sz="2000" dirty="0"/>
          </a:p>
        </p:txBody>
      </p:sp>
      <p:sp>
        <p:nvSpPr>
          <p:cNvPr id="12" name="Text 7"/>
          <p:cNvSpPr/>
          <p:nvPr/>
        </p:nvSpPr>
        <p:spPr>
          <a:xfrm>
            <a:off x="914400" y="3749040"/>
            <a:ext cx="2980944" cy="868680"/>
          </a:xfrm>
          <a:prstGeom prst="rect">
            <a:avLst/>
          </a:prstGeom>
          <a:noFill/>
          <a:ln/>
        </p:spPr>
        <p:txBody>
          <a:bodyPr wrap="square" lIns="0" tIns="0" rIns="0" bIns="0" rtlCol="0" anchor="ctr"/>
          <a:lstStyle/>
          <a:p>
            <a:pPr marL="0" indent="0" algn="l">
              <a:lnSpc>
                <a:spcPct val="105000"/>
              </a:lnSpc>
              <a:buNone/>
            </a:pPr>
            <a:r>
              <a:rPr lang="en-US" sz="1200" dirty="0">
                <a:solidFill>
                  <a:srgbClr val="5B6685"/>
                </a:solidFill>
                <a:latin typeface="Calibri" pitchFamily="34" charset="0"/>
                <a:ea typeface="Calibri" pitchFamily="34" charset="-122"/>
                <a:cs typeface="Calibri" pitchFamily="34" charset="-120"/>
              </a:rPr>
              <a:t>Watch them in their real setting. What do they struggle with — without saying a word?</a:t>
            </a:r>
            <a:endParaRPr lang="en-US" sz="1200" dirty="0"/>
          </a:p>
        </p:txBody>
      </p:sp>
      <p:sp>
        <p:nvSpPr>
          <p:cNvPr id="13" name="Shape 8"/>
          <p:cNvSpPr/>
          <p:nvPr/>
        </p:nvSpPr>
        <p:spPr>
          <a:xfrm>
            <a:off x="914400" y="4731442"/>
            <a:ext cx="3017520" cy="1207008"/>
          </a:xfrm>
          <a:prstGeom prst="roundRect">
            <a:avLst>
              <a:gd name="adj" fmla="val 5303"/>
            </a:avLst>
          </a:prstGeom>
          <a:solidFill>
            <a:srgbClr val="FFF6DD"/>
          </a:solidFill>
          <a:ln w="12700">
            <a:solidFill>
              <a:srgbClr val="F2D98A"/>
            </a:solidFill>
            <a:prstDash val="solid"/>
          </a:ln>
        </p:spPr>
        <p:txBody>
          <a:bodyPr/>
          <a:lstStyle/>
          <a:p>
            <a:endParaRPr lang="en-IN" dirty="0"/>
          </a:p>
        </p:txBody>
      </p:sp>
      <p:sp>
        <p:nvSpPr>
          <p:cNvPr id="14" name="Text 9"/>
          <p:cNvSpPr/>
          <p:nvPr/>
        </p:nvSpPr>
        <p:spPr>
          <a:xfrm>
            <a:off x="1024128" y="4800600"/>
            <a:ext cx="2798064" cy="237744"/>
          </a:xfrm>
          <a:prstGeom prst="rect">
            <a:avLst/>
          </a:prstGeom>
          <a:noFill/>
          <a:ln/>
        </p:spPr>
        <p:txBody>
          <a:bodyPr wrap="square" lIns="0" tIns="0" rIns="0" bIns="0" rtlCol="0" anchor="ctr"/>
          <a:lstStyle/>
          <a:p>
            <a:pPr marL="0" indent="0">
              <a:buNone/>
            </a:pPr>
            <a:endParaRPr lang="en-US" sz="900" dirty="0"/>
          </a:p>
        </p:txBody>
      </p:sp>
      <p:sp>
        <p:nvSpPr>
          <p:cNvPr id="15" name="Text 10"/>
          <p:cNvSpPr/>
          <p:nvPr/>
        </p:nvSpPr>
        <p:spPr>
          <a:xfrm>
            <a:off x="1024128" y="4389120"/>
            <a:ext cx="2835271" cy="1787074"/>
          </a:xfrm>
          <a:prstGeom prst="rect">
            <a:avLst/>
          </a:prstGeom>
          <a:noFill/>
          <a:ln/>
        </p:spPr>
        <p:txBody>
          <a:bodyPr wrap="square" lIns="0" tIns="0" rIns="0" bIns="0" rtlCol="0" anchor="ctr"/>
          <a:lstStyle/>
          <a:p>
            <a:pPr algn="just"/>
            <a:r>
              <a:rPr lang="en-IN" sz="1050" dirty="0"/>
              <a:t>We observed Mr. Manokaran using a white cane during navigation. We noticed that while it helped detect ground-level obstacles, it could not identify overhead objects or provide information about the surrounding environment.</a:t>
            </a:r>
            <a:endParaRPr lang="en-US" sz="1050" dirty="0"/>
          </a:p>
        </p:txBody>
      </p:sp>
      <p:sp>
        <p:nvSpPr>
          <p:cNvPr id="16" name="Shape 11"/>
          <p:cNvSpPr/>
          <p:nvPr/>
        </p:nvSpPr>
        <p:spPr>
          <a:xfrm>
            <a:off x="4453128" y="2011680"/>
            <a:ext cx="3529584" cy="4069080"/>
          </a:xfrm>
          <a:prstGeom prst="roundRect">
            <a:avLst>
              <a:gd name="adj" fmla="val 2591"/>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7" name="Shape 12"/>
          <p:cNvSpPr/>
          <p:nvPr/>
        </p:nvSpPr>
        <p:spPr>
          <a:xfrm>
            <a:off x="5779008" y="2304288"/>
            <a:ext cx="877824" cy="877824"/>
          </a:xfrm>
          <a:prstGeom prst="ellipse">
            <a:avLst/>
          </a:prstGeom>
          <a:solidFill>
            <a:srgbClr val="E9EFFC"/>
          </a:solidFill>
          <a:ln w="12700">
            <a:solidFill>
              <a:srgbClr val="D2DEF8"/>
            </a:solidFill>
            <a:prstDash val="solid"/>
          </a:ln>
        </p:spPr>
      </p:sp>
      <p:pic>
        <p:nvPicPr>
          <p:cNvPr id="18" name="Image 3" descr="preencoded.png"/>
          <p:cNvPicPr>
            <a:picLocks noChangeAspect="1"/>
          </p:cNvPicPr>
          <p:nvPr/>
        </p:nvPicPr>
        <p:blipFill>
          <a:blip r:embed="rId5"/>
          <a:stretch>
            <a:fillRect/>
          </a:stretch>
        </p:blipFill>
        <p:spPr>
          <a:xfrm>
            <a:off x="5971032" y="2487168"/>
            <a:ext cx="493776" cy="493776"/>
          </a:xfrm>
          <a:prstGeom prst="rect">
            <a:avLst/>
          </a:prstGeom>
        </p:spPr>
      </p:pic>
      <p:sp>
        <p:nvSpPr>
          <p:cNvPr id="19" name="Shape 13"/>
          <p:cNvSpPr/>
          <p:nvPr/>
        </p:nvSpPr>
        <p:spPr>
          <a:xfrm>
            <a:off x="4672584" y="2231136"/>
            <a:ext cx="365760" cy="365760"/>
          </a:xfrm>
          <a:prstGeom prst="ellipse">
            <a:avLst/>
          </a:prstGeom>
          <a:solidFill>
            <a:srgbClr val="FFC01E"/>
          </a:solidFill>
          <a:ln/>
        </p:spPr>
      </p:sp>
      <p:sp>
        <p:nvSpPr>
          <p:cNvPr id="20" name="Text 14"/>
          <p:cNvSpPr/>
          <p:nvPr/>
        </p:nvSpPr>
        <p:spPr>
          <a:xfrm>
            <a:off x="4672584" y="2231136"/>
            <a:ext cx="365760" cy="365760"/>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2</a:t>
            </a:r>
            <a:endParaRPr lang="en-US" sz="1400" dirty="0"/>
          </a:p>
        </p:txBody>
      </p:sp>
      <p:sp>
        <p:nvSpPr>
          <p:cNvPr id="21" name="Text 15"/>
          <p:cNvSpPr/>
          <p:nvPr/>
        </p:nvSpPr>
        <p:spPr>
          <a:xfrm>
            <a:off x="4453128" y="3310128"/>
            <a:ext cx="3529584" cy="365760"/>
          </a:xfrm>
          <a:prstGeom prst="rect">
            <a:avLst/>
          </a:prstGeom>
          <a:noFill/>
          <a:ln/>
        </p:spPr>
        <p:txBody>
          <a:bodyPr wrap="square" lIns="0" tIns="0" rIns="0" bIns="0" rtlCol="0" anchor="ctr"/>
          <a:lstStyle/>
          <a:p>
            <a:pPr marL="0" indent="0" algn="ctr">
              <a:buNone/>
            </a:pPr>
            <a:r>
              <a:rPr lang="en-US" sz="2000" b="1" dirty="0">
                <a:solidFill>
                  <a:srgbClr val="071A45"/>
                </a:solidFill>
                <a:latin typeface="Calibri" pitchFamily="34" charset="0"/>
                <a:ea typeface="Calibri" pitchFamily="34" charset="-122"/>
                <a:cs typeface="Calibri" pitchFamily="34" charset="-120"/>
              </a:rPr>
              <a:t>Interact</a:t>
            </a:r>
            <a:endParaRPr lang="en-US" sz="2000" dirty="0"/>
          </a:p>
        </p:txBody>
      </p:sp>
      <p:sp>
        <p:nvSpPr>
          <p:cNvPr id="22" name="Text 16"/>
          <p:cNvSpPr/>
          <p:nvPr/>
        </p:nvSpPr>
        <p:spPr>
          <a:xfrm>
            <a:off x="4727448" y="3749040"/>
            <a:ext cx="2980944" cy="868680"/>
          </a:xfrm>
          <a:prstGeom prst="rect">
            <a:avLst/>
          </a:prstGeom>
          <a:noFill/>
          <a:ln/>
        </p:spPr>
        <p:txBody>
          <a:bodyPr wrap="square" lIns="0" tIns="0" rIns="0" bIns="0" rtlCol="0" anchor="ctr"/>
          <a:lstStyle/>
          <a:p>
            <a:pPr marL="0" indent="0" algn="l">
              <a:lnSpc>
                <a:spcPct val="105000"/>
              </a:lnSpc>
              <a:buNone/>
            </a:pPr>
            <a:r>
              <a:rPr lang="en-US" sz="1200" dirty="0">
                <a:solidFill>
                  <a:srgbClr val="5B6685"/>
                </a:solidFill>
                <a:latin typeface="Calibri" pitchFamily="34" charset="0"/>
                <a:ea typeface="Calibri" pitchFamily="34" charset="-122"/>
                <a:cs typeface="Calibri" pitchFamily="34" charset="-120"/>
              </a:rPr>
              <a:t>Talk and listen. Ask “why” until you reach the real reason.</a:t>
            </a:r>
            <a:endParaRPr lang="en-US" sz="1200" dirty="0"/>
          </a:p>
        </p:txBody>
      </p:sp>
      <p:sp>
        <p:nvSpPr>
          <p:cNvPr id="23" name="Shape 17"/>
          <p:cNvSpPr/>
          <p:nvPr/>
        </p:nvSpPr>
        <p:spPr>
          <a:xfrm>
            <a:off x="4709160" y="4709160"/>
            <a:ext cx="3017520" cy="1207008"/>
          </a:xfrm>
          <a:prstGeom prst="roundRect">
            <a:avLst>
              <a:gd name="adj" fmla="val 5303"/>
            </a:avLst>
          </a:prstGeom>
          <a:solidFill>
            <a:srgbClr val="FFF6DD"/>
          </a:solidFill>
          <a:ln w="12700">
            <a:solidFill>
              <a:srgbClr val="F2D98A"/>
            </a:solidFill>
            <a:prstDash val="solid"/>
          </a:ln>
        </p:spPr>
      </p:sp>
      <p:sp>
        <p:nvSpPr>
          <p:cNvPr id="24" name="Text 18"/>
          <p:cNvSpPr/>
          <p:nvPr/>
        </p:nvSpPr>
        <p:spPr>
          <a:xfrm>
            <a:off x="4837176" y="4800600"/>
            <a:ext cx="2798064" cy="237744"/>
          </a:xfrm>
          <a:prstGeom prst="rect">
            <a:avLst/>
          </a:prstGeom>
          <a:noFill/>
          <a:ln/>
        </p:spPr>
        <p:txBody>
          <a:bodyPr wrap="square" lIns="0" tIns="0" rIns="0" bIns="0" rtlCol="0" anchor="ctr"/>
          <a:lstStyle/>
          <a:p>
            <a:pPr marL="0" indent="0">
              <a:buNone/>
            </a:pPr>
            <a:endParaRPr lang="en-US" sz="900" dirty="0"/>
          </a:p>
        </p:txBody>
      </p:sp>
      <p:sp>
        <p:nvSpPr>
          <p:cNvPr id="25" name="Text 19"/>
          <p:cNvSpPr/>
          <p:nvPr/>
        </p:nvSpPr>
        <p:spPr>
          <a:xfrm>
            <a:off x="4837176" y="4480560"/>
            <a:ext cx="2761488" cy="1389888"/>
          </a:xfrm>
          <a:prstGeom prst="rect">
            <a:avLst/>
          </a:prstGeom>
          <a:noFill/>
          <a:ln/>
        </p:spPr>
        <p:txBody>
          <a:bodyPr wrap="square" lIns="0" tIns="0" rIns="0" bIns="0" rtlCol="0" anchor="ctr"/>
          <a:lstStyle/>
          <a:p>
            <a:r>
              <a:rPr lang="en-IN" sz="1050" dirty="0"/>
              <a:t>We interviewed Mr. Manokaran to understand his daily challenges, the limitations of existing mobility aids, and the features he would like in a smart assistive device.</a:t>
            </a:r>
            <a:endParaRPr lang="en-US" sz="1050" dirty="0"/>
          </a:p>
        </p:txBody>
      </p:sp>
      <p:sp>
        <p:nvSpPr>
          <p:cNvPr id="26" name="Shape 20"/>
          <p:cNvSpPr/>
          <p:nvPr/>
        </p:nvSpPr>
        <p:spPr>
          <a:xfrm>
            <a:off x="8266176" y="2011680"/>
            <a:ext cx="3529584" cy="4069080"/>
          </a:xfrm>
          <a:prstGeom prst="roundRect">
            <a:avLst>
              <a:gd name="adj" fmla="val 2591"/>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7" name="Shape 21"/>
          <p:cNvSpPr/>
          <p:nvPr/>
        </p:nvSpPr>
        <p:spPr>
          <a:xfrm>
            <a:off x="9592056" y="2304288"/>
            <a:ext cx="877824" cy="877824"/>
          </a:xfrm>
          <a:prstGeom prst="ellipse">
            <a:avLst/>
          </a:prstGeom>
          <a:solidFill>
            <a:srgbClr val="E9EFFC"/>
          </a:solidFill>
          <a:ln w="12700">
            <a:solidFill>
              <a:srgbClr val="D2DEF8"/>
            </a:solidFill>
            <a:prstDash val="solid"/>
          </a:ln>
        </p:spPr>
      </p:sp>
      <p:pic>
        <p:nvPicPr>
          <p:cNvPr id="28" name="Image 4" descr="preencoded.png"/>
          <p:cNvPicPr>
            <a:picLocks noChangeAspect="1"/>
          </p:cNvPicPr>
          <p:nvPr/>
        </p:nvPicPr>
        <p:blipFill>
          <a:blip r:embed="rId6"/>
          <a:stretch>
            <a:fillRect/>
          </a:stretch>
        </p:blipFill>
        <p:spPr>
          <a:xfrm>
            <a:off x="9784080" y="2487168"/>
            <a:ext cx="493776" cy="493776"/>
          </a:xfrm>
          <a:prstGeom prst="rect">
            <a:avLst/>
          </a:prstGeom>
        </p:spPr>
      </p:pic>
      <p:sp>
        <p:nvSpPr>
          <p:cNvPr id="29" name="Shape 22"/>
          <p:cNvSpPr/>
          <p:nvPr/>
        </p:nvSpPr>
        <p:spPr>
          <a:xfrm>
            <a:off x="8485632" y="2231136"/>
            <a:ext cx="365760" cy="365760"/>
          </a:xfrm>
          <a:prstGeom prst="ellipse">
            <a:avLst/>
          </a:prstGeom>
          <a:solidFill>
            <a:srgbClr val="FFC01E"/>
          </a:solidFill>
          <a:ln/>
        </p:spPr>
      </p:sp>
      <p:sp>
        <p:nvSpPr>
          <p:cNvPr id="30" name="Text 23"/>
          <p:cNvSpPr/>
          <p:nvPr/>
        </p:nvSpPr>
        <p:spPr>
          <a:xfrm>
            <a:off x="8485632" y="2231136"/>
            <a:ext cx="365760" cy="365760"/>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3</a:t>
            </a:r>
            <a:endParaRPr lang="en-US" sz="1400" dirty="0"/>
          </a:p>
        </p:txBody>
      </p:sp>
      <p:sp>
        <p:nvSpPr>
          <p:cNvPr id="31" name="Text 24"/>
          <p:cNvSpPr/>
          <p:nvPr/>
        </p:nvSpPr>
        <p:spPr>
          <a:xfrm>
            <a:off x="8266176" y="3310128"/>
            <a:ext cx="3529584" cy="365760"/>
          </a:xfrm>
          <a:prstGeom prst="rect">
            <a:avLst/>
          </a:prstGeom>
          <a:noFill/>
          <a:ln/>
        </p:spPr>
        <p:txBody>
          <a:bodyPr wrap="square" lIns="0" tIns="0" rIns="0" bIns="0" rtlCol="0" anchor="ctr"/>
          <a:lstStyle/>
          <a:p>
            <a:pPr marL="0" indent="0" algn="ctr">
              <a:buNone/>
            </a:pPr>
            <a:r>
              <a:rPr lang="en-US" sz="2000" b="1" dirty="0">
                <a:solidFill>
                  <a:srgbClr val="071A45"/>
                </a:solidFill>
                <a:latin typeface="Calibri" pitchFamily="34" charset="0"/>
                <a:ea typeface="Calibri" pitchFamily="34" charset="-122"/>
                <a:cs typeface="Calibri" pitchFamily="34" charset="-120"/>
              </a:rPr>
              <a:t>Understand</a:t>
            </a:r>
            <a:endParaRPr lang="en-US" sz="2000" dirty="0"/>
          </a:p>
        </p:txBody>
      </p:sp>
      <p:sp>
        <p:nvSpPr>
          <p:cNvPr id="32" name="Text 25"/>
          <p:cNvSpPr/>
          <p:nvPr/>
        </p:nvSpPr>
        <p:spPr>
          <a:xfrm>
            <a:off x="8540496" y="3749040"/>
            <a:ext cx="2980944" cy="868680"/>
          </a:xfrm>
          <a:prstGeom prst="rect">
            <a:avLst/>
          </a:prstGeom>
          <a:noFill/>
          <a:ln/>
        </p:spPr>
        <p:txBody>
          <a:bodyPr wrap="square" lIns="0" tIns="0" rIns="0" bIns="0" rtlCol="0" anchor="ctr"/>
          <a:lstStyle/>
          <a:p>
            <a:pPr marL="0" indent="0" algn="l">
              <a:lnSpc>
                <a:spcPct val="105000"/>
              </a:lnSpc>
              <a:buNone/>
            </a:pPr>
            <a:r>
              <a:rPr lang="en-US" sz="1200" dirty="0">
                <a:solidFill>
                  <a:srgbClr val="5B6685"/>
                </a:solidFill>
                <a:latin typeface="Calibri" pitchFamily="34" charset="0"/>
                <a:ea typeface="Calibri" pitchFamily="34" charset="-122"/>
                <a:cs typeface="Calibri" pitchFamily="34" charset="-120"/>
              </a:rPr>
              <a:t>Step into their shoes. Separate what they say from what they truly need.</a:t>
            </a:r>
            <a:endParaRPr lang="en-US" sz="1200" dirty="0"/>
          </a:p>
        </p:txBody>
      </p:sp>
      <p:sp>
        <p:nvSpPr>
          <p:cNvPr id="33" name="Shape 26"/>
          <p:cNvSpPr/>
          <p:nvPr/>
        </p:nvSpPr>
        <p:spPr>
          <a:xfrm>
            <a:off x="8522208" y="4709160"/>
            <a:ext cx="3017520" cy="1207008"/>
          </a:xfrm>
          <a:prstGeom prst="roundRect">
            <a:avLst>
              <a:gd name="adj" fmla="val 5303"/>
            </a:avLst>
          </a:prstGeom>
          <a:solidFill>
            <a:srgbClr val="FFF6DD"/>
          </a:solidFill>
          <a:ln w="12700">
            <a:solidFill>
              <a:srgbClr val="F2D98A"/>
            </a:solidFill>
            <a:prstDash val="solid"/>
          </a:ln>
        </p:spPr>
      </p:sp>
      <p:sp>
        <p:nvSpPr>
          <p:cNvPr id="34" name="Text 27"/>
          <p:cNvSpPr/>
          <p:nvPr/>
        </p:nvSpPr>
        <p:spPr>
          <a:xfrm>
            <a:off x="8650224" y="4800600"/>
            <a:ext cx="2798064" cy="237744"/>
          </a:xfrm>
          <a:prstGeom prst="rect">
            <a:avLst/>
          </a:prstGeom>
          <a:noFill/>
          <a:ln/>
        </p:spPr>
        <p:txBody>
          <a:bodyPr wrap="square" lIns="0" tIns="0" rIns="0" bIns="0" rtlCol="0" anchor="ctr"/>
          <a:lstStyle/>
          <a:p>
            <a:pPr marL="0" indent="0">
              <a:buNone/>
            </a:pPr>
            <a:endParaRPr lang="en-US" sz="900" dirty="0"/>
          </a:p>
        </p:txBody>
      </p:sp>
      <p:sp>
        <p:nvSpPr>
          <p:cNvPr id="35" name="Text 28"/>
          <p:cNvSpPr/>
          <p:nvPr/>
        </p:nvSpPr>
        <p:spPr>
          <a:xfrm>
            <a:off x="8650224" y="4480560"/>
            <a:ext cx="2761488" cy="1389888"/>
          </a:xfrm>
          <a:prstGeom prst="rect">
            <a:avLst/>
          </a:prstGeom>
          <a:noFill/>
          <a:ln/>
        </p:spPr>
        <p:txBody>
          <a:bodyPr wrap="square" lIns="0" tIns="0" rIns="0" bIns="0" rtlCol="0" anchor="ctr"/>
          <a:lstStyle/>
          <a:p>
            <a:r>
              <a:rPr lang="en-IN" sz="1050" dirty="0"/>
              <a:t>We realized that visually impaired individuals need more than obstacle detection—they need real-time awareness of their surroundings through voice guidance to travel safely and independently.</a:t>
            </a:r>
            <a:endParaRPr lang="en-US" sz="1050" dirty="0"/>
          </a:p>
        </p:txBody>
      </p:sp>
      <p:sp>
        <p:nvSpPr>
          <p:cNvPr id="36" name="Text 29"/>
          <p:cNvSpPr/>
          <p:nvPr/>
        </p:nvSpPr>
        <p:spPr>
          <a:xfrm>
            <a:off x="502920" y="6455664"/>
            <a:ext cx="8229600" cy="274320"/>
          </a:xfrm>
          <a:prstGeom prst="rect">
            <a:avLst/>
          </a:prstGeom>
          <a:noFill/>
          <a:ln/>
        </p:spPr>
        <p:txBody>
          <a:bodyPr wrap="square" lIns="0" tIns="0" rIns="0" bIns="0" rtlCol="0" anchor="ctr"/>
          <a:lstStyle/>
          <a:p>
            <a:pPr marL="0" indent="0">
              <a:buNone/>
            </a:pPr>
            <a:r>
              <a:rPr lang="en-US" sz="900" dirty="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dirty="0"/>
          </a:p>
        </p:txBody>
      </p:sp>
      <p:pic>
        <p:nvPicPr>
          <p:cNvPr id="42" name="Picture 41">
            <a:extLst>
              <a:ext uri="{FF2B5EF4-FFF2-40B4-BE49-F238E27FC236}">
                <a16:creationId xmlns:a16="http://schemas.microsoft.com/office/drawing/2014/main" id="{5DF41527-7ADC-6ED2-9B93-C5B26E8DD9F3}"/>
              </a:ext>
            </a:extLst>
          </p:cNvPr>
          <p:cNvPicPr>
            <a:picLocks noChangeAspect="1"/>
          </p:cNvPicPr>
          <p:nvPr/>
        </p:nvPicPr>
        <p:blipFill>
          <a:blip r:embed="rId7"/>
          <a:stretch>
            <a:fillRect/>
          </a:stretch>
        </p:blipFill>
        <p:spPr>
          <a:xfrm>
            <a:off x="10363654" y="371776"/>
            <a:ext cx="1325426" cy="6035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dirty="0">
                <a:solidFill>
                  <a:srgbClr val="071A45"/>
                </a:solidFill>
                <a:latin typeface="Calibri" pitchFamily="34" charset="0"/>
                <a:ea typeface="Calibri" pitchFamily="34" charset="-122"/>
                <a:cs typeface="Calibri" pitchFamily="34" charset="-120"/>
              </a:rPr>
              <a:t>User Interview</a:t>
            </a:r>
            <a:endParaRPr lang="en-US" sz="2900" dirty="0"/>
          </a:p>
        </p:txBody>
      </p:sp>
      <p:sp>
        <p:nvSpPr>
          <p:cNvPr id="5" name="Text 1"/>
          <p:cNvSpPr/>
          <p:nvPr/>
        </p:nvSpPr>
        <p:spPr>
          <a:xfrm>
            <a:off x="502920" y="1463040"/>
            <a:ext cx="11155680" cy="365760"/>
          </a:xfrm>
          <a:prstGeom prst="rect">
            <a:avLst/>
          </a:prstGeom>
          <a:noFill/>
          <a:ln/>
        </p:spPr>
        <p:txBody>
          <a:bodyPr wrap="square" lIns="0" tIns="0" rIns="0" bIns="0" rtlCol="0" anchor="ctr"/>
          <a:lstStyle/>
          <a:p>
            <a:pPr marL="0" indent="0">
              <a:buNone/>
            </a:pPr>
            <a:r>
              <a:rPr lang="en-US" sz="1400" dirty="0">
                <a:solidFill>
                  <a:srgbClr val="5B6685"/>
                </a:solidFill>
                <a:latin typeface="Calibri" pitchFamily="34" charset="0"/>
                <a:ea typeface="Calibri" pitchFamily="34" charset="-122"/>
                <a:cs typeface="Calibri" pitchFamily="34" charset="-120"/>
              </a:rPr>
              <a:t>Play the recorded interview with your user during the presentation.</a:t>
            </a:r>
            <a:endParaRPr lang="en-US" sz="1400" dirty="0"/>
          </a:p>
        </p:txBody>
      </p:sp>
      <p:sp>
        <p:nvSpPr>
          <p:cNvPr id="6" name="Shape 2"/>
          <p:cNvSpPr/>
          <p:nvPr/>
        </p:nvSpPr>
        <p:spPr>
          <a:xfrm>
            <a:off x="640080" y="2011680"/>
            <a:ext cx="6035040" cy="3749040"/>
          </a:xfrm>
          <a:prstGeom prst="roundRect">
            <a:avLst>
              <a:gd name="adj" fmla="val 2439"/>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7" name="Text 3"/>
          <p:cNvSpPr/>
          <p:nvPr/>
        </p:nvSpPr>
        <p:spPr>
          <a:xfrm>
            <a:off x="1097280" y="2286000"/>
            <a:ext cx="5120640" cy="777240"/>
          </a:xfrm>
          <a:prstGeom prst="rect">
            <a:avLst/>
          </a:prstGeom>
          <a:noFill/>
          <a:ln/>
        </p:spPr>
        <p:txBody>
          <a:bodyPr wrap="square" lIns="0" tIns="0" rIns="0" bIns="0" rtlCol="0" anchor="ctr"/>
          <a:lstStyle/>
          <a:p>
            <a:pPr marL="0" indent="0" algn="ctr">
              <a:lnSpc>
                <a:spcPct val="105000"/>
              </a:lnSpc>
              <a:buNone/>
            </a:pPr>
            <a:r>
              <a:rPr lang="en-US" sz="1500" b="1" dirty="0">
                <a:solidFill>
                  <a:srgbClr val="071A45"/>
                </a:solidFill>
                <a:latin typeface="Calibri" pitchFamily="34" charset="0"/>
                <a:ea typeface="Calibri" pitchFamily="34" charset="-122"/>
                <a:cs typeface="Calibri" pitchFamily="34" charset="-120"/>
              </a:rPr>
              <a:t>Paste your video link or Google Drive link of the video you captured in the user interview.</a:t>
            </a:r>
            <a:endParaRPr lang="en-US" sz="1500" dirty="0"/>
          </a:p>
        </p:txBody>
      </p:sp>
      <p:sp>
        <p:nvSpPr>
          <p:cNvPr id="8" name="Shape 4">
            <a:hlinkClick r:id="" action="ppaction://noaction"/>
          </p:cNvPr>
          <p:cNvSpPr/>
          <p:nvPr/>
        </p:nvSpPr>
        <p:spPr>
          <a:xfrm>
            <a:off x="3090672" y="3246120"/>
            <a:ext cx="1133856" cy="1133856"/>
          </a:xfrm>
          <a:prstGeom prst="ellipse">
            <a:avLst/>
          </a:prstGeom>
          <a:solidFill>
            <a:srgbClr val="FFC01E"/>
          </a:solidFill>
          <a:ln/>
          <a:effectLst>
            <a:outerShdw blurRad="88900" dist="38100" dir="5400000" algn="bl" rotWithShape="0">
              <a:srgbClr val="071A45">
                <a:alpha val="12000"/>
              </a:srgbClr>
            </a:outerShdw>
          </a:effectLst>
        </p:spPr>
      </p:sp>
      <p:pic>
        <p:nvPicPr>
          <p:cNvPr id="9" name="Image 2" descr="preencoded.png">
            <a:hlinkClick r:id="" action="ppaction://noaction"/>
          </p:cNvPr>
          <p:cNvPicPr>
            <a:picLocks noChangeAspect="1"/>
          </p:cNvPicPr>
          <p:nvPr/>
        </p:nvPicPr>
        <p:blipFill>
          <a:blip r:embed="rId4"/>
          <a:stretch>
            <a:fillRect/>
          </a:stretch>
        </p:blipFill>
        <p:spPr>
          <a:xfrm>
            <a:off x="3511296" y="3575304"/>
            <a:ext cx="384048" cy="457200"/>
          </a:xfrm>
          <a:prstGeom prst="rect">
            <a:avLst/>
          </a:prstGeom>
        </p:spPr>
      </p:pic>
      <p:sp>
        <p:nvSpPr>
          <p:cNvPr id="10" name="Text 5"/>
          <p:cNvSpPr/>
          <p:nvPr/>
        </p:nvSpPr>
        <p:spPr>
          <a:xfrm>
            <a:off x="1097280" y="4453128"/>
            <a:ext cx="5120640" cy="310896"/>
          </a:xfrm>
          <a:prstGeom prst="rect">
            <a:avLst/>
          </a:prstGeom>
          <a:noFill/>
          <a:ln/>
        </p:spPr>
        <p:txBody>
          <a:bodyPr wrap="square" lIns="0" tIns="0" rIns="0" bIns="0" rtlCol="0" anchor="ctr"/>
          <a:lstStyle/>
          <a:p>
            <a:pPr marL="0" indent="0" algn="ctr">
              <a:buNone/>
            </a:pPr>
            <a:r>
              <a:rPr lang="en-US" sz="1300" b="1" dirty="0">
                <a:solidFill>
                  <a:srgbClr val="071A45"/>
                </a:solidFill>
                <a:latin typeface="Calibri" pitchFamily="34" charset="0"/>
                <a:ea typeface="Calibri" pitchFamily="34" charset="-122"/>
                <a:cs typeface="Calibri" pitchFamily="34" charset="-120"/>
              </a:rPr>
              <a:t>Click to play</a:t>
            </a:r>
            <a:endParaRPr lang="en-US" sz="1300" dirty="0"/>
          </a:p>
        </p:txBody>
      </p:sp>
      <p:sp>
        <p:nvSpPr>
          <p:cNvPr id="11" name="Shape 6"/>
          <p:cNvSpPr/>
          <p:nvPr/>
        </p:nvSpPr>
        <p:spPr>
          <a:xfrm>
            <a:off x="1097280" y="5074920"/>
            <a:ext cx="5120640" cy="548640"/>
          </a:xfrm>
          <a:prstGeom prst="roundRect">
            <a:avLst>
              <a:gd name="adj" fmla="val 13333"/>
            </a:avLst>
          </a:prstGeom>
          <a:solidFill>
            <a:srgbClr val="FFFFFF"/>
          </a:solidFill>
          <a:ln w="12700">
            <a:solidFill>
              <a:srgbClr val="C9D2E2"/>
            </a:solidFill>
            <a:prstDash val="solid"/>
          </a:ln>
        </p:spPr>
      </p:sp>
      <p:sp>
        <p:nvSpPr>
          <p:cNvPr id="12" name="Text 7">
            <a:hlinkClick r:id="" action="ppaction://noaction"/>
          </p:cNvPr>
          <p:cNvSpPr/>
          <p:nvPr/>
        </p:nvSpPr>
        <p:spPr>
          <a:xfrm>
            <a:off x="1280160" y="5074920"/>
            <a:ext cx="4754880" cy="548640"/>
          </a:xfrm>
          <a:prstGeom prst="rect">
            <a:avLst/>
          </a:prstGeom>
          <a:noFill/>
          <a:ln/>
        </p:spPr>
        <p:txBody>
          <a:bodyPr wrap="square" lIns="0" tIns="0" rIns="0" bIns="0" rtlCol="0" anchor="ctr"/>
          <a:lstStyle/>
          <a:p>
            <a:pPr algn="ctr"/>
            <a:r>
              <a:rPr lang="en-US" sz="1200" b="1" u="sng" dirty="0">
                <a:solidFill>
                  <a:srgbClr val="1C52C2"/>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Video link:  </a:t>
            </a:r>
            <a:r>
              <a:rPr lang="en-US" sz="1200" i="1" u="sng" dirty="0">
                <a:solidFill>
                  <a:srgbClr val="8A93A8"/>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[https://drive.google.com/drive/folders/1AO0Fw-3p0NF2T83nyStd450RH1LeIsnX?usp=drive_link ]</a:t>
            </a:r>
            <a:endParaRPr lang="en-US" sz="1200" dirty="0"/>
          </a:p>
        </p:txBody>
      </p:sp>
      <p:sp>
        <p:nvSpPr>
          <p:cNvPr id="13" name="Shape 8"/>
          <p:cNvSpPr/>
          <p:nvPr/>
        </p:nvSpPr>
        <p:spPr>
          <a:xfrm>
            <a:off x="6995160" y="2011680"/>
            <a:ext cx="4572000" cy="1783080"/>
          </a:xfrm>
          <a:prstGeom prst="roundRect">
            <a:avLst>
              <a:gd name="adj" fmla="val 359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4" name="Text 9"/>
          <p:cNvSpPr/>
          <p:nvPr/>
        </p:nvSpPr>
        <p:spPr>
          <a:xfrm>
            <a:off x="7196328" y="2157984"/>
            <a:ext cx="4206240"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What we learned</a:t>
            </a:r>
            <a:endParaRPr lang="en-US" sz="1350" dirty="0"/>
          </a:p>
        </p:txBody>
      </p:sp>
      <p:sp>
        <p:nvSpPr>
          <p:cNvPr id="15" name="Text 10"/>
          <p:cNvSpPr/>
          <p:nvPr/>
        </p:nvSpPr>
        <p:spPr>
          <a:xfrm>
            <a:off x="7196328" y="2849249"/>
            <a:ext cx="4206240" cy="457200"/>
          </a:xfrm>
          <a:prstGeom prst="rect">
            <a:avLst/>
          </a:prstGeom>
          <a:noFill/>
          <a:ln/>
        </p:spPr>
        <p:txBody>
          <a:bodyPr wrap="square" lIns="0" tIns="0" rIns="0" bIns="0" rtlCol="0" anchor="ctr"/>
          <a:lstStyle/>
          <a:p>
            <a:pPr marL="171450" indent="-171450">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Mr. Manokaran emphasized that </a:t>
            </a:r>
            <a:r>
              <a:rPr lang="en-IN" sz="1000" b="1" dirty="0">
                <a:latin typeface="Times New Roman" panose="02020603050405020304" pitchFamily="18" charset="0"/>
                <a:cs typeface="Times New Roman" panose="02020603050405020304" pitchFamily="18" charset="0"/>
              </a:rPr>
              <a:t>independence and safety</a:t>
            </a:r>
            <a:r>
              <a:rPr lang="en-IN" sz="1000" dirty="0">
                <a:latin typeface="Times New Roman" panose="02020603050405020304" pitchFamily="18" charset="0"/>
                <a:cs typeface="Times New Roman" panose="02020603050405020304" pitchFamily="18" charset="0"/>
              </a:rPr>
              <a:t> are the highest priorities for visually impaired individuals. </a:t>
            </a:r>
          </a:p>
          <a:p>
            <a:pPr marL="171450" indent="-171450">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Existing mobility aids, such as the </a:t>
            </a:r>
            <a:r>
              <a:rPr lang="en-IN" sz="1000" b="1" dirty="0">
                <a:latin typeface="Times New Roman" panose="02020603050405020304" pitchFamily="18" charset="0"/>
                <a:cs typeface="Times New Roman" panose="02020603050405020304" pitchFamily="18" charset="0"/>
              </a:rPr>
              <a:t>white cane</a:t>
            </a:r>
            <a:r>
              <a:rPr lang="en-IN" sz="1000" dirty="0">
                <a:latin typeface="Times New Roman" panose="02020603050405020304" pitchFamily="18" charset="0"/>
                <a:cs typeface="Times New Roman" panose="02020603050405020304" pitchFamily="18" charset="0"/>
              </a:rPr>
              <a:t>, are helpful but cannot provide complete awareness of the surrounding environment. </a:t>
            </a:r>
          </a:p>
          <a:p>
            <a:pPr marL="171450" indent="-171450">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Real-time voice guidance about obstacles, pathways, and nearby objects would significantly improve confidence and independent mobility. </a:t>
            </a:r>
          </a:p>
          <a:p>
            <a:pPr marL="171450" indent="-171450">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Affordable and easy-to-use assistive technology can make a meaningful difference in everyday life. </a:t>
            </a:r>
            <a:endParaRPr lang="en-US" sz="1000" dirty="0">
              <a:latin typeface="Times New Roman" panose="02020603050405020304" pitchFamily="18" charset="0"/>
              <a:cs typeface="Times New Roman" panose="02020603050405020304" pitchFamily="18" charset="0"/>
            </a:endParaRPr>
          </a:p>
        </p:txBody>
      </p:sp>
      <p:sp>
        <p:nvSpPr>
          <p:cNvPr id="16" name="Shape 11"/>
          <p:cNvSpPr/>
          <p:nvPr/>
        </p:nvSpPr>
        <p:spPr>
          <a:xfrm>
            <a:off x="6995160" y="3977640"/>
            <a:ext cx="4572000" cy="1783080"/>
          </a:xfrm>
          <a:prstGeom prst="roundRect">
            <a:avLst>
              <a:gd name="adj" fmla="val 359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7" name="Text 12"/>
          <p:cNvSpPr/>
          <p:nvPr/>
        </p:nvSpPr>
        <p:spPr>
          <a:xfrm>
            <a:off x="7196328" y="4123944"/>
            <a:ext cx="4206240"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What surprised us</a:t>
            </a:r>
            <a:endParaRPr lang="en-US" sz="1350" dirty="0"/>
          </a:p>
        </p:txBody>
      </p:sp>
      <p:sp>
        <p:nvSpPr>
          <p:cNvPr id="18" name="Text 13"/>
          <p:cNvSpPr/>
          <p:nvPr/>
        </p:nvSpPr>
        <p:spPr>
          <a:xfrm>
            <a:off x="7196328" y="4762132"/>
            <a:ext cx="4206240" cy="457200"/>
          </a:xfrm>
          <a:prstGeom prst="rect">
            <a:avLst/>
          </a:prstGeom>
          <a:noFill/>
          <a:ln/>
        </p:spPr>
        <p:txBody>
          <a:bodyPr wrap="square" lIns="0" tIns="0" rIns="0" bIns="0" rtlCol="0" anchor="ctr"/>
          <a:lstStyle/>
          <a:p>
            <a:pPr marL="171450" indent="-171450">
              <a:lnSpc>
                <a:spcPct val="95000"/>
              </a:lnSpc>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We were surprised to learn that the biggest challenge is not blindness itself but he </a:t>
            </a:r>
            <a:r>
              <a:rPr lang="en-IN" sz="1000" b="1" dirty="0">
                <a:latin typeface="Times New Roman" panose="02020603050405020304" pitchFamily="18" charset="0"/>
                <a:cs typeface="Times New Roman" panose="02020603050405020304" pitchFamily="18" charset="0"/>
              </a:rPr>
              <a:t>lack of real-time information about the environment</a:t>
            </a:r>
            <a:r>
              <a:rPr lang="en-IN" sz="1000" dirty="0">
                <a:latin typeface="Times New Roman" panose="02020603050405020304" pitchFamily="18" charset="0"/>
                <a:cs typeface="Times New Roman" panose="02020603050405020304" pitchFamily="18" charset="0"/>
              </a:rPr>
              <a:t>.</a:t>
            </a:r>
          </a:p>
          <a:p>
            <a:pPr marL="171450" indent="-171450">
              <a:lnSpc>
                <a:spcPct val="95000"/>
              </a:lnSpc>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Mr. Manokaran explained that many visually impaired individuals are confident and capable but are limited by the absence of intelligent assistive technology. </a:t>
            </a:r>
          </a:p>
          <a:p>
            <a:pPr marL="171450" indent="-171450">
              <a:lnSpc>
                <a:spcPct val="95000"/>
              </a:lnSpc>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We also realized that users value </a:t>
            </a:r>
            <a:r>
              <a:rPr lang="en-IN" sz="1000" b="1" dirty="0">
                <a:latin typeface="Times New Roman" panose="02020603050405020304" pitchFamily="18" charset="0"/>
                <a:cs typeface="Times New Roman" panose="02020603050405020304" pitchFamily="18" charset="0"/>
              </a:rPr>
              <a:t>independence, dignity, and confidence</a:t>
            </a:r>
            <a:r>
              <a:rPr lang="en-IN" sz="1000" dirty="0">
                <a:latin typeface="Times New Roman" panose="02020603050405020304" pitchFamily="18" charset="0"/>
                <a:cs typeface="Times New Roman" panose="02020603050405020304" pitchFamily="18" charset="0"/>
              </a:rPr>
              <a:t> more than simply receiving assistance from others.</a:t>
            </a:r>
            <a:endParaRPr lang="en-US" sz="1000" dirty="0">
              <a:latin typeface="Times New Roman" panose="02020603050405020304" pitchFamily="18" charset="0"/>
              <a:cs typeface="Times New Roman" panose="02020603050405020304" pitchFamily="18" charset="0"/>
            </a:endParaRPr>
          </a:p>
        </p:txBody>
      </p:sp>
      <p:sp>
        <p:nvSpPr>
          <p:cNvPr id="19" name="Text 14"/>
          <p:cNvSpPr/>
          <p:nvPr/>
        </p:nvSpPr>
        <p:spPr>
          <a:xfrm>
            <a:off x="502920" y="6455664"/>
            <a:ext cx="8229600" cy="274320"/>
          </a:xfrm>
          <a:prstGeom prst="rect">
            <a:avLst/>
          </a:prstGeom>
          <a:noFill/>
          <a:ln/>
        </p:spPr>
        <p:txBody>
          <a:bodyPr wrap="square" lIns="0" tIns="0" rIns="0" bIns="0" rtlCol="0" anchor="ctr"/>
          <a:lstStyle/>
          <a:p>
            <a:pPr marL="0" indent="0">
              <a:buNone/>
            </a:pPr>
            <a:r>
              <a:rPr lang="en-US" sz="900" dirty="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dirty="0"/>
          </a:p>
        </p:txBody>
      </p:sp>
      <p:pic>
        <p:nvPicPr>
          <p:cNvPr id="21" name="Picture 20">
            <a:extLst>
              <a:ext uri="{FF2B5EF4-FFF2-40B4-BE49-F238E27FC236}">
                <a16:creationId xmlns:a16="http://schemas.microsoft.com/office/drawing/2014/main" id="{02C7C975-679B-7B79-370E-03D825CB3903}"/>
              </a:ext>
            </a:extLst>
          </p:cNvPr>
          <p:cNvPicPr>
            <a:picLocks noChangeAspect="1"/>
          </p:cNvPicPr>
          <p:nvPr/>
        </p:nvPicPr>
        <p:blipFill>
          <a:blip r:embed="rId5"/>
          <a:stretch>
            <a:fillRect/>
          </a:stretch>
        </p:blipFill>
        <p:spPr>
          <a:xfrm>
            <a:off x="10363654" y="371776"/>
            <a:ext cx="1325426" cy="6035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457200" y="745236"/>
            <a:ext cx="8595360" cy="603504"/>
          </a:xfrm>
          <a:prstGeom prst="rect">
            <a:avLst/>
          </a:prstGeom>
          <a:noFill/>
          <a:ln/>
        </p:spPr>
        <p:txBody>
          <a:bodyPr wrap="square" lIns="0" tIns="0" rIns="0" bIns="0" rtlCol="0" anchor="ctr"/>
          <a:lstStyle/>
          <a:p>
            <a:pPr marL="0" indent="0">
              <a:buNone/>
            </a:pPr>
            <a:r>
              <a:rPr lang="en-US" sz="2900" b="1" dirty="0">
                <a:solidFill>
                  <a:srgbClr val="071A45"/>
                </a:solidFill>
                <a:latin typeface="Calibri" pitchFamily="34" charset="0"/>
                <a:ea typeface="Calibri" pitchFamily="34" charset="-122"/>
                <a:cs typeface="Calibri" pitchFamily="34" charset="-120"/>
              </a:rPr>
              <a:t>Empathy Map Canvas</a:t>
            </a:r>
            <a:endParaRPr lang="en-US" sz="2900" dirty="0"/>
          </a:p>
        </p:txBody>
      </p:sp>
      <p:sp>
        <p:nvSpPr>
          <p:cNvPr id="5" name="Text 1"/>
          <p:cNvSpPr/>
          <p:nvPr/>
        </p:nvSpPr>
        <p:spPr>
          <a:xfrm>
            <a:off x="502920" y="1426464"/>
            <a:ext cx="2651760" cy="292608"/>
          </a:xfrm>
          <a:prstGeom prst="rect">
            <a:avLst/>
          </a:prstGeom>
          <a:noFill/>
          <a:ln/>
        </p:spPr>
        <p:txBody>
          <a:bodyPr wrap="square" lIns="0" tIns="0" rIns="0" bIns="0" rtlCol="0" anchor="ctr"/>
          <a:lstStyle/>
          <a:p>
            <a:r>
              <a:rPr lang="en-US" sz="1050" b="1" dirty="0">
                <a:solidFill>
                  <a:srgbClr val="071A45"/>
                </a:solidFill>
                <a:latin typeface="Calibri" pitchFamily="34" charset="0"/>
                <a:ea typeface="Calibri" pitchFamily="34" charset="-122"/>
                <a:cs typeface="Calibri" pitchFamily="34" charset="-120"/>
              </a:rPr>
              <a:t>Designed for:  </a:t>
            </a:r>
            <a:r>
              <a:rPr lang="en-US" sz="1050" i="1" dirty="0">
                <a:solidFill>
                  <a:srgbClr val="8A93A8"/>
                </a:solidFill>
                <a:latin typeface="Calibri" pitchFamily="34" charset="0"/>
                <a:ea typeface="Calibri" pitchFamily="34" charset="-122"/>
                <a:cs typeface="Calibri" pitchFamily="34" charset="-120"/>
              </a:rPr>
              <a:t>[</a:t>
            </a:r>
            <a:r>
              <a:rPr lang="en-IN" sz="1050" dirty="0"/>
              <a:t>Mr. Manokaran – South Indian Project Manager, National Federation of the Blind (NFB)</a:t>
            </a:r>
            <a:r>
              <a:rPr lang="en-US" sz="1050" i="1" dirty="0">
                <a:solidFill>
                  <a:srgbClr val="8A93A8"/>
                </a:solidFill>
                <a:latin typeface="Calibri" pitchFamily="34" charset="0"/>
                <a:ea typeface="Calibri" pitchFamily="34" charset="-122"/>
                <a:cs typeface="Calibri" pitchFamily="34" charset="-120"/>
              </a:rPr>
              <a:t> ]</a:t>
            </a:r>
            <a:endParaRPr lang="en-US" sz="1050" dirty="0"/>
          </a:p>
        </p:txBody>
      </p:sp>
      <p:sp>
        <p:nvSpPr>
          <p:cNvPr id="6" name="Text 2"/>
          <p:cNvSpPr/>
          <p:nvPr/>
        </p:nvSpPr>
        <p:spPr>
          <a:xfrm>
            <a:off x="3291840" y="1426464"/>
            <a:ext cx="2651760" cy="292608"/>
          </a:xfrm>
          <a:prstGeom prst="rect">
            <a:avLst/>
          </a:prstGeom>
          <a:noFill/>
          <a:ln/>
        </p:spPr>
        <p:txBody>
          <a:bodyPr wrap="square" lIns="0" tIns="0" rIns="0" bIns="0" rtlCol="0" anchor="ctr"/>
          <a:lstStyle/>
          <a:p>
            <a:pPr marL="0" indent="0">
              <a:buNone/>
            </a:pPr>
            <a:r>
              <a:rPr lang="en-US" sz="1050" b="1" dirty="0">
                <a:solidFill>
                  <a:srgbClr val="071A45"/>
                </a:solidFill>
                <a:latin typeface="Calibri" pitchFamily="34" charset="0"/>
                <a:ea typeface="Calibri" pitchFamily="34" charset="-122"/>
                <a:cs typeface="Calibri" pitchFamily="34" charset="-120"/>
              </a:rPr>
              <a:t>Designed by:  </a:t>
            </a:r>
            <a:r>
              <a:rPr lang="en-US" sz="1050" i="1" dirty="0">
                <a:solidFill>
                  <a:srgbClr val="8A93A8"/>
                </a:solidFill>
                <a:latin typeface="Calibri" pitchFamily="34" charset="0"/>
                <a:ea typeface="Calibri" pitchFamily="34" charset="-122"/>
                <a:cs typeface="Calibri" pitchFamily="34" charset="-120"/>
              </a:rPr>
              <a:t>[ </a:t>
            </a:r>
            <a:r>
              <a:rPr lang="en-US" sz="1050" i="1" dirty="0">
                <a:latin typeface="Calibri" pitchFamily="34" charset="0"/>
                <a:ea typeface="Calibri" pitchFamily="34" charset="-122"/>
                <a:cs typeface="Calibri" pitchFamily="34" charset="-120"/>
              </a:rPr>
              <a:t>VISION MAKERS</a:t>
            </a:r>
            <a:r>
              <a:rPr lang="en-US" sz="1050" i="1" dirty="0">
                <a:solidFill>
                  <a:srgbClr val="8A93A8"/>
                </a:solidFill>
                <a:latin typeface="Calibri" pitchFamily="34" charset="0"/>
                <a:ea typeface="Calibri" pitchFamily="34" charset="-122"/>
                <a:cs typeface="Calibri" pitchFamily="34" charset="-120"/>
              </a:rPr>
              <a:t> ]</a:t>
            </a:r>
            <a:endParaRPr lang="en-US" sz="1050" dirty="0"/>
          </a:p>
        </p:txBody>
      </p:sp>
      <p:sp>
        <p:nvSpPr>
          <p:cNvPr id="7" name="Text 3"/>
          <p:cNvSpPr/>
          <p:nvPr/>
        </p:nvSpPr>
        <p:spPr>
          <a:xfrm>
            <a:off x="6766560" y="1426464"/>
            <a:ext cx="2194560" cy="292608"/>
          </a:xfrm>
          <a:prstGeom prst="rect">
            <a:avLst/>
          </a:prstGeom>
          <a:noFill/>
          <a:ln/>
        </p:spPr>
        <p:txBody>
          <a:bodyPr wrap="square" lIns="0" tIns="0" rIns="0" bIns="0" rtlCol="0" anchor="ctr"/>
          <a:lstStyle/>
          <a:p>
            <a:pPr marL="0" indent="0">
              <a:buNone/>
            </a:pPr>
            <a:r>
              <a:rPr lang="en-US" sz="1050" b="1" dirty="0">
                <a:solidFill>
                  <a:srgbClr val="071A45"/>
                </a:solidFill>
                <a:latin typeface="Calibri" pitchFamily="34" charset="0"/>
                <a:ea typeface="Calibri" pitchFamily="34" charset="-122"/>
                <a:cs typeface="Calibri" pitchFamily="34" charset="-120"/>
              </a:rPr>
              <a:t>Date:  </a:t>
            </a:r>
            <a:r>
              <a:rPr lang="en-US" sz="1050" i="1" dirty="0">
                <a:solidFill>
                  <a:srgbClr val="8A93A8"/>
                </a:solidFill>
                <a:latin typeface="Calibri" pitchFamily="34" charset="0"/>
                <a:ea typeface="Calibri" pitchFamily="34" charset="-122"/>
                <a:cs typeface="Calibri" pitchFamily="34" charset="-120"/>
              </a:rPr>
              <a:t>[ ]</a:t>
            </a:r>
            <a:endParaRPr lang="en-US" sz="1050" dirty="0"/>
          </a:p>
        </p:txBody>
      </p:sp>
      <p:sp>
        <p:nvSpPr>
          <p:cNvPr id="8" name="Text 4"/>
          <p:cNvSpPr/>
          <p:nvPr/>
        </p:nvSpPr>
        <p:spPr>
          <a:xfrm>
            <a:off x="9098280" y="1426464"/>
            <a:ext cx="2542032" cy="292608"/>
          </a:xfrm>
          <a:prstGeom prst="rect">
            <a:avLst/>
          </a:prstGeom>
          <a:noFill/>
          <a:ln/>
        </p:spPr>
        <p:txBody>
          <a:bodyPr wrap="square" lIns="0" tIns="0" rIns="0" bIns="0" rtlCol="0" anchor="ctr"/>
          <a:lstStyle/>
          <a:p>
            <a:r>
              <a:rPr lang="en-US" sz="1050" b="1" dirty="0">
                <a:solidFill>
                  <a:srgbClr val="071A45"/>
                </a:solidFill>
                <a:latin typeface="Calibri" pitchFamily="34" charset="0"/>
                <a:ea typeface="Calibri" pitchFamily="34" charset="-122"/>
                <a:cs typeface="Calibri" pitchFamily="34" charset="-120"/>
              </a:rPr>
              <a:t>Version:  </a:t>
            </a:r>
            <a:r>
              <a:rPr lang="en-US" sz="1050" i="1" dirty="0">
                <a:solidFill>
                  <a:srgbClr val="8A93A8"/>
                </a:solidFill>
                <a:latin typeface="Calibri" pitchFamily="34" charset="0"/>
                <a:ea typeface="Calibri" pitchFamily="34" charset="-122"/>
                <a:cs typeface="Calibri" pitchFamily="34" charset="-120"/>
              </a:rPr>
              <a:t>[</a:t>
            </a:r>
            <a:r>
              <a:rPr lang="en-IN" sz="1050" dirty="0"/>
              <a:t>1.0</a:t>
            </a:r>
            <a:r>
              <a:rPr lang="en-US" sz="1050" i="1" dirty="0">
                <a:solidFill>
                  <a:srgbClr val="8A93A8"/>
                </a:solidFill>
                <a:latin typeface="Calibri" pitchFamily="34" charset="0"/>
                <a:ea typeface="Calibri" pitchFamily="34" charset="-122"/>
                <a:cs typeface="Calibri" pitchFamily="34" charset="-120"/>
              </a:rPr>
              <a:t> ]</a:t>
            </a:r>
            <a:endParaRPr lang="en-US" sz="1050" dirty="0"/>
          </a:p>
        </p:txBody>
      </p:sp>
      <p:sp>
        <p:nvSpPr>
          <p:cNvPr id="9" name="Shape 5"/>
          <p:cNvSpPr/>
          <p:nvPr/>
        </p:nvSpPr>
        <p:spPr>
          <a:xfrm>
            <a:off x="5541264" y="1737360"/>
            <a:ext cx="1097280" cy="292608"/>
          </a:xfrm>
          <a:prstGeom prst="roundRect">
            <a:avLst>
              <a:gd name="adj" fmla="val 50000"/>
            </a:avLst>
          </a:prstGeom>
          <a:solidFill>
            <a:srgbClr val="FFC01E"/>
          </a:solidFill>
          <a:ln/>
        </p:spPr>
      </p:sp>
      <p:sp>
        <p:nvSpPr>
          <p:cNvPr id="10" name="Text 6"/>
          <p:cNvSpPr/>
          <p:nvPr/>
        </p:nvSpPr>
        <p:spPr>
          <a:xfrm>
            <a:off x="5541264" y="1737360"/>
            <a:ext cx="1097280" cy="292608"/>
          </a:xfrm>
          <a:prstGeom prst="rect">
            <a:avLst/>
          </a:prstGeom>
          <a:noFill/>
          <a:ln/>
        </p:spPr>
        <p:txBody>
          <a:bodyPr wrap="square" lIns="0" tIns="0" rIns="0" bIns="0" rtlCol="0" anchor="ctr"/>
          <a:lstStyle/>
          <a:p>
            <a:pPr marL="0" indent="0" algn="ctr">
              <a:buNone/>
            </a:pPr>
            <a:r>
              <a:rPr lang="en-US" sz="1200" b="1" kern="0" spc="100" dirty="0">
                <a:solidFill>
                  <a:srgbClr val="071A45"/>
                </a:solidFill>
                <a:latin typeface="Calibri" pitchFamily="34" charset="0"/>
                <a:ea typeface="Calibri" pitchFamily="34" charset="-122"/>
                <a:cs typeface="Calibri" pitchFamily="34" charset="-120"/>
              </a:rPr>
              <a:t>GOAL</a:t>
            </a:r>
            <a:endParaRPr lang="en-US" sz="1200" dirty="0"/>
          </a:p>
        </p:txBody>
      </p:sp>
      <p:sp>
        <p:nvSpPr>
          <p:cNvPr id="11" name="Shape 7"/>
          <p:cNvSpPr/>
          <p:nvPr/>
        </p:nvSpPr>
        <p:spPr>
          <a:xfrm>
            <a:off x="457200" y="2103120"/>
            <a:ext cx="5486400" cy="868680"/>
          </a:xfrm>
          <a:prstGeom prst="roundRect">
            <a:avLst>
              <a:gd name="adj" fmla="val 7368"/>
            </a:avLst>
          </a:prstGeom>
          <a:solidFill>
            <a:srgbClr val="EDEFF5"/>
          </a:solidFill>
          <a:ln w="12700">
            <a:solidFill>
              <a:srgbClr val="DFE4EE"/>
            </a:solidFill>
            <a:prstDash val="solid"/>
          </a:ln>
          <a:effectLst>
            <a:outerShdw blurRad="88900" dist="38100" dir="5400000" algn="bl" rotWithShape="0">
              <a:srgbClr val="071A45">
                <a:alpha val="12000"/>
              </a:srgbClr>
            </a:outerShdw>
          </a:effectLst>
        </p:spPr>
      </p:sp>
      <p:sp>
        <p:nvSpPr>
          <p:cNvPr id="12" name="Shape 8"/>
          <p:cNvSpPr/>
          <p:nvPr/>
        </p:nvSpPr>
        <p:spPr>
          <a:xfrm>
            <a:off x="685800" y="2267712"/>
            <a:ext cx="347472" cy="347472"/>
          </a:xfrm>
          <a:prstGeom prst="ellipse">
            <a:avLst/>
          </a:prstGeom>
          <a:solidFill>
            <a:srgbClr val="FFC01E"/>
          </a:solidFill>
          <a:ln/>
        </p:spPr>
      </p:sp>
      <p:sp>
        <p:nvSpPr>
          <p:cNvPr id="13" name="Text 9"/>
          <p:cNvSpPr/>
          <p:nvPr/>
        </p:nvSpPr>
        <p:spPr>
          <a:xfrm>
            <a:off x="685800" y="2267712"/>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179576" y="2249424"/>
            <a:ext cx="4626864"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WHO are we empathizing with?</a:t>
            </a:r>
            <a:endParaRPr lang="en-US" sz="1350" dirty="0"/>
          </a:p>
        </p:txBody>
      </p:sp>
      <p:sp>
        <p:nvSpPr>
          <p:cNvPr id="15" name="Text 11"/>
          <p:cNvSpPr/>
          <p:nvPr/>
        </p:nvSpPr>
        <p:spPr>
          <a:xfrm>
            <a:off x="1175004" y="2525951"/>
            <a:ext cx="4626864" cy="457200"/>
          </a:xfrm>
          <a:prstGeom prst="rect">
            <a:avLst/>
          </a:prstGeom>
          <a:noFill/>
          <a:ln/>
        </p:spPr>
        <p:txBody>
          <a:bodyPr wrap="square" lIns="0" tIns="0" rIns="0" bIns="0" rtlCol="0" anchor="ctr"/>
          <a:lstStyle/>
          <a:p>
            <a:pPr>
              <a:lnSpc>
                <a:spcPct val="95000"/>
              </a:lnSpc>
            </a:pPr>
            <a:r>
              <a:rPr lang="en-IN" sz="1000" dirty="0"/>
              <a:t>Mr. Manokaran, a visually impaired professional and leader who represents the challenges faced by blind individuals. He strives to live independently but encounters difficulties navigating unfamiliar and dynamic environments.</a:t>
            </a:r>
            <a:endParaRPr lang="en-US" sz="1000" dirty="0"/>
          </a:p>
        </p:txBody>
      </p:sp>
      <p:sp>
        <p:nvSpPr>
          <p:cNvPr id="16" name="Shape 12"/>
          <p:cNvSpPr/>
          <p:nvPr/>
        </p:nvSpPr>
        <p:spPr>
          <a:xfrm>
            <a:off x="6199632" y="2103120"/>
            <a:ext cx="5486400" cy="868680"/>
          </a:xfrm>
          <a:prstGeom prst="roundRect">
            <a:avLst>
              <a:gd name="adj" fmla="val 7368"/>
            </a:avLst>
          </a:prstGeom>
          <a:solidFill>
            <a:srgbClr val="EDEFF5"/>
          </a:solidFill>
          <a:ln w="12700">
            <a:solidFill>
              <a:srgbClr val="DFE4EE"/>
            </a:solidFill>
            <a:prstDash val="solid"/>
          </a:ln>
          <a:effectLst>
            <a:outerShdw blurRad="88900" dist="38100" dir="5400000" algn="bl" rotWithShape="0">
              <a:srgbClr val="071A45">
                <a:alpha val="12000"/>
              </a:srgbClr>
            </a:outerShdw>
          </a:effectLst>
        </p:spPr>
      </p:sp>
      <p:sp>
        <p:nvSpPr>
          <p:cNvPr id="17" name="Shape 13"/>
          <p:cNvSpPr/>
          <p:nvPr/>
        </p:nvSpPr>
        <p:spPr>
          <a:xfrm>
            <a:off x="6382512" y="2267712"/>
            <a:ext cx="347472" cy="347472"/>
          </a:xfrm>
          <a:prstGeom prst="ellipse">
            <a:avLst/>
          </a:prstGeom>
          <a:solidFill>
            <a:srgbClr val="FFC01E"/>
          </a:solidFill>
          <a:ln/>
        </p:spPr>
      </p:sp>
      <p:sp>
        <p:nvSpPr>
          <p:cNvPr id="18" name="Text 14"/>
          <p:cNvSpPr/>
          <p:nvPr/>
        </p:nvSpPr>
        <p:spPr>
          <a:xfrm>
            <a:off x="6382512" y="2267712"/>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2</a:t>
            </a:r>
            <a:endParaRPr lang="en-US" sz="1400" dirty="0"/>
          </a:p>
        </p:txBody>
      </p:sp>
      <p:sp>
        <p:nvSpPr>
          <p:cNvPr id="19" name="Text 15"/>
          <p:cNvSpPr/>
          <p:nvPr/>
        </p:nvSpPr>
        <p:spPr>
          <a:xfrm>
            <a:off x="6876288" y="2249424"/>
            <a:ext cx="4626864"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What do they need to DO?</a:t>
            </a:r>
            <a:endParaRPr lang="en-US" sz="1350" dirty="0"/>
          </a:p>
        </p:txBody>
      </p:sp>
      <p:sp>
        <p:nvSpPr>
          <p:cNvPr id="20" name="Text 16"/>
          <p:cNvSpPr/>
          <p:nvPr/>
        </p:nvSpPr>
        <p:spPr>
          <a:xfrm>
            <a:off x="6876288" y="2487168"/>
            <a:ext cx="4626864" cy="457200"/>
          </a:xfrm>
          <a:prstGeom prst="rect">
            <a:avLst/>
          </a:prstGeom>
          <a:noFill/>
          <a:ln/>
        </p:spPr>
        <p:txBody>
          <a:bodyPr wrap="square" lIns="0" tIns="0" rIns="0" bIns="0" rtlCol="0" anchor="ctr"/>
          <a:lstStyle/>
          <a:p>
            <a:pPr>
              <a:lnSpc>
                <a:spcPct val="95000"/>
              </a:lnSpc>
            </a:pPr>
            <a:r>
              <a:rPr lang="en-IN" sz="1000" dirty="0"/>
              <a:t>Navigate independently in daily life. Detect obstacles and moving objects. Cross roads safely. Travel confidently in unfamiliar places. Receive real-time information about their surroundings.</a:t>
            </a:r>
            <a:endParaRPr lang="en-US" sz="1000" dirty="0"/>
          </a:p>
        </p:txBody>
      </p:sp>
      <p:sp>
        <p:nvSpPr>
          <p:cNvPr id="21" name="Shape 17"/>
          <p:cNvSpPr/>
          <p:nvPr/>
        </p:nvSpPr>
        <p:spPr>
          <a:xfrm>
            <a:off x="502920" y="3084996"/>
            <a:ext cx="3566160" cy="1225296"/>
          </a:xfrm>
          <a:prstGeom prst="roundRect">
            <a:avLst>
              <a:gd name="adj" fmla="val 522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2" name="Shape 18"/>
          <p:cNvSpPr/>
          <p:nvPr/>
        </p:nvSpPr>
        <p:spPr>
          <a:xfrm>
            <a:off x="685800" y="3255264"/>
            <a:ext cx="347472" cy="347472"/>
          </a:xfrm>
          <a:prstGeom prst="ellipse">
            <a:avLst/>
          </a:prstGeom>
          <a:solidFill>
            <a:srgbClr val="FFC01E"/>
          </a:solidFill>
          <a:ln/>
        </p:spPr>
      </p:sp>
      <p:sp>
        <p:nvSpPr>
          <p:cNvPr id="23" name="Text 19"/>
          <p:cNvSpPr/>
          <p:nvPr/>
        </p:nvSpPr>
        <p:spPr>
          <a:xfrm>
            <a:off x="685800" y="3255264"/>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3</a:t>
            </a:r>
            <a:endParaRPr lang="en-US" sz="1400" dirty="0"/>
          </a:p>
        </p:txBody>
      </p:sp>
      <p:sp>
        <p:nvSpPr>
          <p:cNvPr id="24" name="Text 20"/>
          <p:cNvSpPr/>
          <p:nvPr/>
        </p:nvSpPr>
        <p:spPr>
          <a:xfrm>
            <a:off x="1179576" y="3236976"/>
            <a:ext cx="2706624"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What do they SEE?</a:t>
            </a:r>
            <a:endParaRPr lang="en-US" sz="1350" dirty="0"/>
          </a:p>
        </p:txBody>
      </p:sp>
      <p:sp>
        <p:nvSpPr>
          <p:cNvPr id="25" name="Text 21"/>
          <p:cNvSpPr/>
          <p:nvPr/>
        </p:nvSpPr>
        <p:spPr>
          <a:xfrm>
            <a:off x="1179576" y="3649717"/>
            <a:ext cx="2706624" cy="457200"/>
          </a:xfrm>
          <a:prstGeom prst="rect">
            <a:avLst/>
          </a:prstGeom>
          <a:noFill/>
          <a:ln/>
        </p:spPr>
        <p:txBody>
          <a:bodyPr wrap="square" lIns="0" tIns="0" rIns="0" bIns="0" rtlCol="0" anchor="ctr"/>
          <a:lstStyle/>
          <a:p>
            <a:pPr marL="171450" indent="-171450">
              <a:lnSpc>
                <a:spcPct val="95000"/>
              </a:lnSpc>
              <a:buFont typeface="Wingdings" panose="05000000000000000000" pitchFamily="2" charset="2"/>
              <a:buChar char="ü"/>
            </a:pPr>
            <a:r>
              <a:rPr lang="en-IN" sz="1000" dirty="0">
                <a:latin typeface="Times New Roman" panose="02020603050405020304" pitchFamily="18" charset="0"/>
                <a:cs typeface="Times New Roman" panose="02020603050405020304" pitchFamily="18" charset="0"/>
              </a:rPr>
              <a:t>Crowded streets and public spaces. </a:t>
            </a:r>
          </a:p>
          <a:p>
            <a:pPr marL="171450" indent="-171450">
              <a:lnSpc>
                <a:spcPct val="95000"/>
              </a:lnSpc>
              <a:buFont typeface="Wingdings" panose="05000000000000000000" pitchFamily="2" charset="2"/>
              <a:buChar char="ü"/>
            </a:pPr>
            <a:r>
              <a:rPr lang="en-IN" sz="1000" dirty="0">
                <a:latin typeface="Times New Roman" panose="02020603050405020304" pitchFamily="18" charset="0"/>
                <a:cs typeface="Times New Roman" panose="02020603050405020304" pitchFamily="18" charset="0"/>
              </a:rPr>
              <a:t>Moving vehicles and pedestrians. </a:t>
            </a:r>
          </a:p>
          <a:p>
            <a:pPr marL="171450" indent="-171450">
              <a:lnSpc>
                <a:spcPct val="95000"/>
              </a:lnSpc>
              <a:buFont typeface="Wingdings" panose="05000000000000000000" pitchFamily="2" charset="2"/>
              <a:buChar char="ü"/>
            </a:pPr>
            <a:r>
              <a:rPr lang="en-IN" sz="1000" dirty="0">
                <a:latin typeface="Times New Roman" panose="02020603050405020304" pitchFamily="18" charset="0"/>
                <a:cs typeface="Times New Roman" panose="02020603050405020304" pitchFamily="18" charset="0"/>
              </a:rPr>
              <a:t>Stairs, poles, potholes, and overhead obstacles.</a:t>
            </a:r>
          </a:p>
          <a:p>
            <a:pPr marL="171450" indent="-171450">
              <a:lnSpc>
                <a:spcPct val="95000"/>
              </a:lnSpc>
              <a:buFont typeface="Wingdings" panose="05000000000000000000" pitchFamily="2" charset="2"/>
              <a:buChar char="ü"/>
            </a:pPr>
            <a:r>
              <a:rPr lang="en-IN" sz="1000" dirty="0">
                <a:latin typeface="Times New Roman" panose="02020603050405020304" pitchFamily="18" charset="0"/>
                <a:cs typeface="Times New Roman" panose="02020603050405020304" pitchFamily="18" charset="0"/>
              </a:rPr>
              <a:t>Unfamiliar buildings and pathways. </a:t>
            </a:r>
          </a:p>
          <a:p>
            <a:pPr marL="171450" indent="-171450">
              <a:lnSpc>
                <a:spcPct val="95000"/>
              </a:lnSpc>
              <a:buFont typeface="Wingdings" panose="05000000000000000000" pitchFamily="2" charset="2"/>
              <a:buChar char="ü"/>
            </a:pPr>
            <a:r>
              <a:rPr lang="en-IN" sz="1000" dirty="0">
                <a:latin typeface="Times New Roman" panose="02020603050405020304" pitchFamily="18" charset="0"/>
                <a:cs typeface="Times New Roman" panose="02020603050405020304" pitchFamily="18" charset="0"/>
              </a:rPr>
              <a:t>Constantly changing surroundings.</a:t>
            </a:r>
            <a:endParaRPr lang="en-US" sz="1000" dirty="0">
              <a:latin typeface="Times New Roman" panose="02020603050405020304" pitchFamily="18" charset="0"/>
              <a:cs typeface="Times New Roman" panose="02020603050405020304" pitchFamily="18" charset="0"/>
            </a:endParaRPr>
          </a:p>
        </p:txBody>
      </p:sp>
      <p:sp>
        <p:nvSpPr>
          <p:cNvPr id="26" name="Shape 22"/>
          <p:cNvSpPr/>
          <p:nvPr/>
        </p:nvSpPr>
        <p:spPr>
          <a:xfrm>
            <a:off x="4233672" y="3090672"/>
            <a:ext cx="3566160" cy="1225296"/>
          </a:xfrm>
          <a:prstGeom prst="roundRect">
            <a:avLst>
              <a:gd name="adj" fmla="val 522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7" name="Shape 23"/>
          <p:cNvSpPr/>
          <p:nvPr/>
        </p:nvSpPr>
        <p:spPr>
          <a:xfrm>
            <a:off x="4416552" y="3255264"/>
            <a:ext cx="347472" cy="347472"/>
          </a:xfrm>
          <a:prstGeom prst="ellipse">
            <a:avLst/>
          </a:prstGeom>
          <a:solidFill>
            <a:srgbClr val="FFC01E"/>
          </a:solidFill>
          <a:ln/>
        </p:spPr>
      </p:sp>
      <p:sp>
        <p:nvSpPr>
          <p:cNvPr id="28" name="Text 24"/>
          <p:cNvSpPr/>
          <p:nvPr/>
        </p:nvSpPr>
        <p:spPr>
          <a:xfrm>
            <a:off x="4416552" y="3255264"/>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4</a:t>
            </a:r>
            <a:endParaRPr lang="en-US" sz="1400" dirty="0"/>
          </a:p>
        </p:txBody>
      </p:sp>
      <p:sp>
        <p:nvSpPr>
          <p:cNvPr id="29" name="Text 25"/>
          <p:cNvSpPr/>
          <p:nvPr/>
        </p:nvSpPr>
        <p:spPr>
          <a:xfrm>
            <a:off x="4910328" y="3236976"/>
            <a:ext cx="2706624"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What do they SAY?</a:t>
            </a:r>
            <a:endParaRPr lang="en-US" sz="1350" dirty="0"/>
          </a:p>
        </p:txBody>
      </p:sp>
      <p:sp>
        <p:nvSpPr>
          <p:cNvPr id="30" name="Text 26"/>
          <p:cNvSpPr/>
          <p:nvPr/>
        </p:nvSpPr>
        <p:spPr>
          <a:xfrm>
            <a:off x="4846320" y="3694176"/>
            <a:ext cx="2706624" cy="457200"/>
          </a:xfrm>
          <a:prstGeom prst="rect">
            <a:avLst/>
          </a:prstGeom>
          <a:noFill/>
          <a:ln/>
        </p:spPr>
        <p:txBody>
          <a:bodyPr wrap="square" lIns="0" tIns="0" rIns="0" bIns="0" rtlCol="0" anchor="ctr"/>
          <a:lstStyle/>
          <a:p>
            <a:pPr marL="171450" indent="-171450">
              <a:lnSpc>
                <a:spcPct val="95000"/>
              </a:lnSpc>
              <a:buFont typeface="Wingdings" panose="05000000000000000000" pitchFamily="2" charset="2"/>
              <a:buChar char="§"/>
            </a:pPr>
            <a:r>
              <a:rPr lang="en-IN" sz="1000" dirty="0"/>
              <a:t>I want to live independently.</a:t>
            </a:r>
          </a:p>
          <a:p>
            <a:pPr marL="171450" indent="-171450">
              <a:lnSpc>
                <a:spcPct val="95000"/>
              </a:lnSpc>
              <a:buFont typeface="Wingdings" panose="05000000000000000000" pitchFamily="2" charset="2"/>
              <a:buChar char="§"/>
            </a:pPr>
            <a:r>
              <a:rPr lang="en-IN" sz="1000" dirty="0"/>
              <a:t>Technology should help us understand our surroundings. </a:t>
            </a:r>
          </a:p>
          <a:p>
            <a:pPr marL="171450" indent="-171450">
              <a:lnSpc>
                <a:spcPct val="95000"/>
              </a:lnSpc>
              <a:buFont typeface="Wingdings" panose="05000000000000000000" pitchFamily="2" charset="2"/>
              <a:buChar char="§"/>
            </a:pPr>
            <a:r>
              <a:rPr lang="en-IN" sz="1000" dirty="0"/>
              <a:t>Safety while travelling is my biggest concern. </a:t>
            </a:r>
          </a:p>
          <a:p>
            <a:pPr marL="171450" indent="-171450">
              <a:lnSpc>
                <a:spcPct val="95000"/>
              </a:lnSpc>
              <a:buFont typeface="Wingdings" panose="05000000000000000000" pitchFamily="2" charset="2"/>
              <a:buChar char="§"/>
            </a:pPr>
            <a:r>
              <a:rPr lang="en-IN" sz="1000" dirty="0"/>
              <a:t>I don't want to depend on others for every journey.</a:t>
            </a:r>
            <a:endParaRPr lang="en-US" sz="1000" dirty="0"/>
          </a:p>
        </p:txBody>
      </p:sp>
      <p:sp>
        <p:nvSpPr>
          <p:cNvPr id="31" name="Shape 27"/>
          <p:cNvSpPr/>
          <p:nvPr/>
        </p:nvSpPr>
        <p:spPr>
          <a:xfrm>
            <a:off x="7946136" y="3084996"/>
            <a:ext cx="3566160" cy="1225296"/>
          </a:xfrm>
          <a:prstGeom prst="roundRect">
            <a:avLst>
              <a:gd name="adj" fmla="val 522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32" name="Shape 28"/>
          <p:cNvSpPr/>
          <p:nvPr/>
        </p:nvSpPr>
        <p:spPr>
          <a:xfrm>
            <a:off x="8147304" y="3255264"/>
            <a:ext cx="347472" cy="347472"/>
          </a:xfrm>
          <a:prstGeom prst="ellipse">
            <a:avLst/>
          </a:prstGeom>
          <a:solidFill>
            <a:srgbClr val="FFC01E"/>
          </a:solidFill>
          <a:ln/>
        </p:spPr>
      </p:sp>
      <p:sp>
        <p:nvSpPr>
          <p:cNvPr id="33" name="Text 29"/>
          <p:cNvSpPr/>
          <p:nvPr/>
        </p:nvSpPr>
        <p:spPr>
          <a:xfrm>
            <a:off x="8147304" y="3255264"/>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5</a:t>
            </a:r>
            <a:endParaRPr lang="en-US" sz="1400" dirty="0"/>
          </a:p>
        </p:txBody>
      </p:sp>
      <p:sp>
        <p:nvSpPr>
          <p:cNvPr id="34" name="Text 30"/>
          <p:cNvSpPr/>
          <p:nvPr/>
        </p:nvSpPr>
        <p:spPr>
          <a:xfrm>
            <a:off x="8641080" y="3174492"/>
            <a:ext cx="2706624"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What do they DO?</a:t>
            </a:r>
            <a:endParaRPr lang="en-US" sz="1350" dirty="0"/>
          </a:p>
        </p:txBody>
      </p:sp>
      <p:sp>
        <p:nvSpPr>
          <p:cNvPr id="35" name="Text 31"/>
          <p:cNvSpPr/>
          <p:nvPr/>
        </p:nvSpPr>
        <p:spPr>
          <a:xfrm>
            <a:off x="8641080" y="3739896"/>
            <a:ext cx="2706624" cy="457200"/>
          </a:xfrm>
          <a:prstGeom prst="rect">
            <a:avLst/>
          </a:prstGeom>
          <a:noFill/>
          <a:ln/>
        </p:spPr>
        <p:txBody>
          <a:bodyPr wrap="square" lIns="0" tIns="0" rIns="0" bIns="0" rtlCol="0" anchor="ctr"/>
          <a:lstStyle/>
          <a:p>
            <a:pPr marL="171450" indent="-171450">
              <a:buFont typeface="Wingdings" panose="05000000000000000000" pitchFamily="2" charset="2"/>
              <a:buChar char="Ø"/>
            </a:pPr>
            <a:r>
              <a:rPr lang="en-IN" sz="1000" dirty="0"/>
              <a:t>Uses a white cane for mobility. </a:t>
            </a:r>
          </a:p>
          <a:p>
            <a:pPr marL="171450" indent="-171450">
              <a:buFont typeface="Wingdings" panose="05000000000000000000" pitchFamily="2" charset="2"/>
              <a:buChar char="Ø"/>
            </a:pPr>
            <a:r>
              <a:rPr lang="en-IN" sz="1000" dirty="0"/>
              <a:t>Relies on hearing to understand the environment. </a:t>
            </a:r>
          </a:p>
          <a:p>
            <a:pPr marL="171450" indent="-171450">
              <a:buFont typeface="Wingdings" panose="05000000000000000000" pitchFamily="2" charset="2"/>
              <a:buChar char="Ø"/>
            </a:pPr>
            <a:r>
              <a:rPr lang="en-IN" sz="1000" dirty="0"/>
              <a:t>Uses smartphone accessibility features. </a:t>
            </a:r>
          </a:p>
          <a:p>
            <a:pPr marL="171450" indent="-171450">
              <a:buFont typeface="Wingdings" panose="05000000000000000000" pitchFamily="2" charset="2"/>
              <a:buChar char="Ø"/>
            </a:pPr>
            <a:r>
              <a:rPr lang="en-IN" sz="1000" dirty="0"/>
              <a:t>Plans routes before travelling. </a:t>
            </a:r>
          </a:p>
          <a:p>
            <a:pPr marL="171450" indent="-171450">
              <a:buFont typeface="Wingdings" panose="05000000000000000000" pitchFamily="2" charset="2"/>
              <a:buChar char="Ø"/>
            </a:pPr>
            <a:r>
              <a:rPr lang="en-IN" sz="1000" dirty="0"/>
              <a:t>Asks for help only when necessary. </a:t>
            </a:r>
          </a:p>
          <a:p>
            <a:pPr marL="0" indent="0">
              <a:lnSpc>
                <a:spcPct val="95000"/>
              </a:lnSpc>
              <a:buNone/>
            </a:pPr>
            <a:endParaRPr lang="en-US" sz="1000" dirty="0"/>
          </a:p>
        </p:txBody>
      </p:sp>
      <p:sp>
        <p:nvSpPr>
          <p:cNvPr id="36" name="Shape 32"/>
          <p:cNvSpPr/>
          <p:nvPr/>
        </p:nvSpPr>
        <p:spPr>
          <a:xfrm>
            <a:off x="502920" y="4434840"/>
            <a:ext cx="3566160" cy="1298448"/>
          </a:xfrm>
          <a:prstGeom prst="roundRect">
            <a:avLst>
              <a:gd name="adj" fmla="val 493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37" name="Shape 33"/>
          <p:cNvSpPr/>
          <p:nvPr/>
        </p:nvSpPr>
        <p:spPr>
          <a:xfrm>
            <a:off x="685800" y="4599432"/>
            <a:ext cx="347472" cy="347472"/>
          </a:xfrm>
          <a:prstGeom prst="ellipse">
            <a:avLst/>
          </a:prstGeom>
          <a:solidFill>
            <a:srgbClr val="FFC01E"/>
          </a:solidFill>
          <a:ln/>
        </p:spPr>
      </p:sp>
      <p:sp>
        <p:nvSpPr>
          <p:cNvPr id="38" name="Text 34"/>
          <p:cNvSpPr/>
          <p:nvPr/>
        </p:nvSpPr>
        <p:spPr>
          <a:xfrm>
            <a:off x="685800" y="4599432"/>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6</a:t>
            </a:r>
            <a:endParaRPr lang="en-US" sz="1400" dirty="0"/>
          </a:p>
        </p:txBody>
      </p:sp>
      <p:sp>
        <p:nvSpPr>
          <p:cNvPr id="39" name="Text 35"/>
          <p:cNvSpPr/>
          <p:nvPr/>
        </p:nvSpPr>
        <p:spPr>
          <a:xfrm>
            <a:off x="1179576" y="4581144"/>
            <a:ext cx="2706624"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What do they HEAR?</a:t>
            </a:r>
            <a:endParaRPr lang="en-US" sz="1350" dirty="0"/>
          </a:p>
        </p:txBody>
      </p:sp>
      <p:sp>
        <p:nvSpPr>
          <p:cNvPr id="40" name="Text 36"/>
          <p:cNvSpPr/>
          <p:nvPr/>
        </p:nvSpPr>
        <p:spPr>
          <a:xfrm>
            <a:off x="1179576" y="5010912"/>
            <a:ext cx="2706624" cy="457200"/>
          </a:xfrm>
          <a:prstGeom prst="rect">
            <a:avLst/>
          </a:prstGeom>
          <a:noFill/>
          <a:ln/>
        </p:spPr>
        <p:txBody>
          <a:bodyPr wrap="square" lIns="0" tIns="0" rIns="0" bIns="0" rtlCol="0" anchor="ctr"/>
          <a:lstStyle/>
          <a:p>
            <a:pPr marL="171450" indent="-171450">
              <a:lnSpc>
                <a:spcPct val="95000"/>
              </a:lnSpc>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Traffic sounds and vehicle horns. </a:t>
            </a:r>
          </a:p>
          <a:p>
            <a:pPr marL="171450" indent="-171450">
              <a:lnSpc>
                <a:spcPct val="95000"/>
              </a:lnSpc>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Public announcements. </a:t>
            </a:r>
          </a:p>
          <a:p>
            <a:pPr marL="171450" indent="-171450">
              <a:lnSpc>
                <a:spcPct val="95000"/>
              </a:lnSpc>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Instructions from family and friends. </a:t>
            </a:r>
          </a:p>
          <a:p>
            <a:pPr marL="171450" indent="-171450">
              <a:lnSpc>
                <a:spcPct val="95000"/>
              </a:lnSpc>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Guidance from passers-by. </a:t>
            </a:r>
          </a:p>
          <a:p>
            <a:pPr marL="171450" indent="-171450">
              <a:lnSpc>
                <a:spcPct val="95000"/>
              </a:lnSpc>
              <a:buFont typeface="Wingdings" panose="05000000000000000000" pitchFamily="2" charset="2"/>
              <a:buChar char="§"/>
            </a:pPr>
            <a:r>
              <a:rPr lang="en-IN" sz="1000" dirty="0">
                <a:latin typeface="Times New Roman" panose="02020603050405020304" pitchFamily="18" charset="0"/>
                <a:cs typeface="Times New Roman" panose="02020603050405020304" pitchFamily="18" charset="0"/>
              </a:rPr>
              <a:t>Audio feedback from accessibility applications</a:t>
            </a:r>
            <a:r>
              <a:rPr lang="en-IN" sz="1000" dirty="0"/>
              <a:t>.</a:t>
            </a:r>
            <a:endParaRPr lang="en-US" sz="1000" dirty="0"/>
          </a:p>
        </p:txBody>
      </p:sp>
      <p:sp>
        <p:nvSpPr>
          <p:cNvPr id="41" name="Shape 37"/>
          <p:cNvSpPr/>
          <p:nvPr/>
        </p:nvSpPr>
        <p:spPr>
          <a:xfrm>
            <a:off x="4233672" y="4434840"/>
            <a:ext cx="7296912" cy="1298448"/>
          </a:xfrm>
          <a:prstGeom prst="roundRect">
            <a:avLst>
              <a:gd name="adj" fmla="val 4930"/>
            </a:avLst>
          </a:prstGeom>
          <a:solidFill>
            <a:srgbClr val="FFF1F1"/>
          </a:solidFill>
          <a:ln w="12700">
            <a:solidFill>
              <a:srgbClr val="F0C9C9"/>
            </a:solidFill>
            <a:prstDash val="solid"/>
          </a:ln>
          <a:effectLst>
            <a:outerShdw blurRad="88900" dist="38100" dir="5400000" algn="bl" rotWithShape="0">
              <a:srgbClr val="071A45">
                <a:alpha val="12000"/>
              </a:srgbClr>
            </a:outerShdw>
          </a:effectLst>
        </p:spPr>
      </p:sp>
      <p:sp>
        <p:nvSpPr>
          <p:cNvPr id="42" name="Shape 38"/>
          <p:cNvSpPr/>
          <p:nvPr/>
        </p:nvSpPr>
        <p:spPr>
          <a:xfrm>
            <a:off x="4416552" y="4581144"/>
            <a:ext cx="347472" cy="347472"/>
          </a:xfrm>
          <a:prstGeom prst="ellipse">
            <a:avLst/>
          </a:prstGeom>
          <a:solidFill>
            <a:srgbClr val="C62828"/>
          </a:solidFill>
          <a:ln/>
        </p:spPr>
      </p:sp>
      <p:sp>
        <p:nvSpPr>
          <p:cNvPr id="43" name="Text 39"/>
          <p:cNvSpPr/>
          <p:nvPr/>
        </p:nvSpPr>
        <p:spPr>
          <a:xfrm>
            <a:off x="4416552" y="458114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4" name="Text 40"/>
          <p:cNvSpPr/>
          <p:nvPr/>
        </p:nvSpPr>
        <p:spPr>
          <a:xfrm>
            <a:off x="4910328" y="4581144"/>
            <a:ext cx="6382512" cy="310896"/>
          </a:xfrm>
          <a:prstGeom prst="rect">
            <a:avLst/>
          </a:prstGeom>
          <a:noFill/>
          <a:ln/>
        </p:spPr>
        <p:txBody>
          <a:bodyPr wrap="square" lIns="0" tIns="0" rIns="0" bIns="0" rtlCol="0" anchor="ctr"/>
          <a:lstStyle/>
          <a:p>
            <a:pPr marL="0" indent="0">
              <a:buNone/>
            </a:pPr>
            <a:r>
              <a:rPr lang="en-US" sz="1350" b="1" dirty="0">
                <a:solidFill>
                  <a:srgbClr val="C62828"/>
                </a:solidFill>
                <a:latin typeface="Calibri" pitchFamily="34" charset="0"/>
                <a:ea typeface="Calibri" pitchFamily="34" charset="-122"/>
                <a:cs typeface="Calibri" pitchFamily="34" charset="-120"/>
              </a:rPr>
              <a:t>What do they THINK and FEEL?</a:t>
            </a:r>
            <a:endParaRPr lang="en-US" sz="1350" dirty="0"/>
          </a:p>
        </p:txBody>
      </p:sp>
      <p:sp>
        <p:nvSpPr>
          <p:cNvPr id="45" name="Text 41"/>
          <p:cNvSpPr/>
          <p:nvPr/>
        </p:nvSpPr>
        <p:spPr>
          <a:xfrm>
            <a:off x="4798498" y="5129784"/>
            <a:ext cx="3282696" cy="274320"/>
          </a:xfrm>
          <a:prstGeom prst="rect">
            <a:avLst/>
          </a:prstGeom>
          <a:noFill/>
          <a:ln/>
        </p:spPr>
        <p:txBody>
          <a:bodyPr wrap="square" lIns="0" tIns="0" rIns="0" bIns="0" rtlCol="0" anchor="ctr"/>
          <a:lstStyle/>
          <a:p>
            <a:r>
              <a:rPr lang="en-US" sz="1050" b="1" dirty="0">
                <a:solidFill>
                  <a:srgbClr val="B23A3A"/>
                </a:solidFill>
                <a:latin typeface="Calibri" pitchFamily="34" charset="0"/>
                <a:ea typeface="Calibri" pitchFamily="34" charset="-122"/>
                <a:cs typeface="Calibri" pitchFamily="34" charset="-120"/>
              </a:rPr>
              <a:t>PAINS  </a:t>
            </a:r>
          </a:p>
          <a:p>
            <a:pPr marL="628650" lvl="1" indent="-171450">
              <a:buFont typeface="Wingdings" panose="05000000000000000000" pitchFamily="2" charset="2"/>
              <a:buChar char="§"/>
            </a:pPr>
            <a:r>
              <a:rPr lang="en-IN" sz="1050" dirty="0"/>
              <a:t>Fear of unexpected obstacles.</a:t>
            </a:r>
          </a:p>
          <a:p>
            <a:pPr marL="628650" lvl="1" indent="-171450">
              <a:buFont typeface="Wingdings" panose="05000000000000000000" pitchFamily="2" charset="2"/>
              <a:buChar char="§"/>
            </a:pPr>
            <a:r>
              <a:rPr lang="en-IN" sz="1050" dirty="0"/>
              <a:t>Anxiety while crossing roads.</a:t>
            </a:r>
          </a:p>
          <a:p>
            <a:pPr marL="628650" lvl="1" indent="-171450">
              <a:buFont typeface="Wingdings" panose="05000000000000000000" pitchFamily="2" charset="2"/>
              <a:buChar char="§"/>
            </a:pPr>
            <a:r>
              <a:rPr lang="en-IN" sz="1050" dirty="0"/>
              <a:t> Limited awareness of surroundings. </a:t>
            </a:r>
          </a:p>
          <a:p>
            <a:pPr marL="628650" lvl="1" indent="-171450">
              <a:buFont typeface="Wingdings" panose="05000000000000000000" pitchFamily="2" charset="2"/>
              <a:buChar char="§"/>
            </a:pPr>
            <a:r>
              <a:rPr lang="en-IN" sz="1050" dirty="0"/>
              <a:t>Dependence on others in unfamiliar places. </a:t>
            </a:r>
          </a:p>
          <a:p>
            <a:pPr marL="628650" lvl="1" indent="-171450">
              <a:buFont typeface="Wingdings" panose="05000000000000000000" pitchFamily="2" charset="2"/>
              <a:buChar char="§"/>
            </a:pPr>
            <a:r>
              <a:rPr lang="en-IN" sz="1050" dirty="0"/>
              <a:t>Concern for personal safety.</a:t>
            </a:r>
            <a:endParaRPr lang="en-US" sz="1050" dirty="0"/>
          </a:p>
        </p:txBody>
      </p:sp>
      <p:sp>
        <p:nvSpPr>
          <p:cNvPr id="46" name="Text 42"/>
          <p:cNvSpPr/>
          <p:nvPr/>
        </p:nvSpPr>
        <p:spPr>
          <a:xfrm>
            <a:off x="7973568" y="4965192"/>
            <a:ext cx="3282696" cy="274320"/>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GAINS</a:t>
            </a:r>
          </a:p>
          <a:p>
            <a:pPr marL="171450" indent="-171450">
              <a:buFont typeface="Wingdings" panose="05000000000000000000" pitchFamily="2" charset="2"/>
              <a:buChar char="§"/>
            </a:pPr>
            <a:r>
              <a:rPr lang="en-IN" sz="1050" dirty="0">
                <a:latin typeface="Times New Roman" panose="02020603050405020304" pitchFamily="18" charset="0"/>
                <a:cs typeface="Times New Roman" panose="02020603050405020304" pitchFamily="18" charset="0"/>
              </a:rPr>
              <a:t>Safe and independent mobility. </a:t>
            </a:r>
          </a:p>
          <a:p>
            <a:pPr marL="171450" indent="-171450">
              <a:buFont typeface="Wingdings" panose="05000000000000000000" pitchFamily="2" charset="2"/>
              <a:buChar char="§"/>
            </a:pPr>
            <a:r>
              <a:rPr lang="en-IN" sz="1050" dirty="0">
                <a:latin typeface="Times New Roman" panose="02020603050405020304" pitchFamily="18" charset="0"/>
                <a:cs typeface="Times New Roman" panose="02020603050405020304" pitchFamily="18" charset="0"/>
              </a:rPr>
              <a:t>Real-time voice guidance.</a:t>
            </a:r>
          </a:p>
          <a:p>
            <a:pPr marL="171450" indent="-171450">
              <a:buFont typeface="Wingdings" panose="05000000000000000000" pitchFamily="2" charset="2"/>
              <a:buChar char="§"/>
            </a:pPr>
            <a:r>
              <a:rPr lang="en-IN" sz="1050" dirty="0">
                <a:latin typeface="Times New Roman" panose="02020603050405020304" pitchFamily="18" charset="0"/>
                <a:cs typeface="Times New Roman" panose="02020603050405020304" pitchFamily="18" charset="0"/>
              </a:rPr>
              <a:t> Increased confidence. </a:t>
            </a:r>
          </a:p>
          <a:p>
            <a:pPr marL="171450" indent="-171450">
              <a:buFont typeface="Wingdings" panose="05000000000000000000" pitchFamily="2" charset="2"/>
              <a:buChar char="§"/>
            </a:pPr>
            <a:r>
              <a:rPr lang="en-IN" sz="1050" dirty="0">
                <a:latin typeface="Times New Roman" panose="02020603050405020304" pitchFamily="18" charset="0"/>
                <a:cs typeface="Times New Roman" panose="02020603050405020304" pitchFamily="18" charset="0"/>
              </a:rPr>
              <a:t>Greater freedom and dignity. </a:t>
            </a:r>
          </a:p>
          <a:p>
            <a:pPr marL="171450" indent="-171450">
              <a:buFont typeface="Wingdings" panose="05000000000000000000" pitchFamily="2" charset="2"/>
              <a:buChar char="§"/>
            </a:pPr>
            <a:r>
              <a:rPr lang="en-IN" sz="1050" dirty="0">
                <a:latin typeface="Times New Roman" panose="02020603050405020304" pitchFamily="18" charset="0"/>
                <a:cs typeface="Times New Roman" panose="02020603050405020304" pitchFamily="18" charset="0"/>
              </a:rPr>
              <a:t>Better quality of life. </a:t>
            </a:r>
          </a:p>
          <a:p>
            <a:pPr marL="171450" indent="-171450">
              <a:buFont typeface="Wingdings" panose="05000000000000000000" pitchFamily="2" charset="2"/>
              <a:buChar char="§"/>
            </a:pPr>
            <a:r>
              <a:rPr lang="en-IN" sz="1050" dirty="0">
                <a:latin typeface="Times New Roman" panose="02020603050405020304" pitchFamily="18" charset="0"/>
                <a:cs typeface="Times New Roman" panose="02020603050405020304" pitchFamily="18" charset="0"/>
              </a:rPr>
              <a:t>Equal opportunities in society.</a:t>
            </a:r>
            <a:endParaRPr lang="en-US" sz="1050" dirty="0">
              <a:latin typeface="Times New Roman" panose="02020603050405020304" pitchFamily="18" charset="0"/>
              <a:cs typeface="Times New Roman" panose="02020603050405020304" pitchFamily="18" charset="0"/>
            </a:endParaRPr>
          </a:p>
        </p:txBody>
      </p:sp>
      <p:sp>
        <p:nvSpPr>
          <p:cNvPr id="47" name="Shape 43"/>
          <p:cNvSpPr/>
          <p:nvPr/>
        </p:nvSpPr>
        <p:spPr>
          <a:xfrm>
            <a:off x="7882128" y="4946904"/>
            <a:ext cx="0" cy="658368"/>
          </a:xfrm>
          <a:prstGeom prst="line">
            <a:avLst/>
          </a:prstGeom>
          <a:noFill/>
          <a:ln w="12700">
            <a:solidFill>
              <a:srgbClr val="F0C9C9"/>
            </a:solidFill>
            <a:prstDash val="solid"/>
          </a:ln>
        </p:spPr>
      </p:sp>
      <p:sp>
        <p:nvSpPr>
          <p:cNvPr id="48" name="Shape 44"/>
          <p:cNvSpPr/>
          <p:nvPr/>
        </p:nvSpPr>
        <p:spPr>
          <a:xfrm>
            <a:off x="502920" y="5897880"/>
            <a:ext cx="11183112" cy="457200"/>
          </a:xfrm>
          <a:prstGeom prst="roundRect">
            <a:avLst>
              <a:gd name="adj" fmla="val 20000"/>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sp>
        <p:nvSpPr>
          <p:cNvPr id="49" name="Text 45"/>
          <p:cNvSpPr/>
          <p:nvPr/>
        </p:nvSpPr>
        <p:spPr>
          <a:xfrm>
            <a:off x="777240" y="5897880"/>
            <a:ext cx="10607040" cy="457200"/>
          </a:xfrm>
          <a:prstGeom prst="rect">
            <a:avLst/>
          </a:prstGeom>
          <a:noFill/>
          <a:ln/>
        </p:spPr>
        <p:txBody>
          <a:bodyPr wrap="square" lIns="0" tIns="0" rIns="0" bIns="0" rtlCol="0" anchor="ctr"/>
          <a:lstStyle/>
          <a:p>
            <a:pPr marL="0" indent="0">
              <a:buNone/>
            </a:pPr>
            <a:r>
              <a:rPr lang="en-US" sz="1250" b="1" dirty="0">
                <a:solidFill>
                  <a:srgbClr val="B5891E"/>
                </a:solidFill>
                <a:latin typeface="Calibri" pitchFamily="34" charset="0"/>
                <a:ea typeface="Calibri" pitchFamily="34" charset="-122"/>
                <a:cs typeface="Calibri" pitchFamily="34" charset="-120"/>
              </a:rPr>
              <a:t>▶  </a:t>
            </a:r>
            <a:r>
              <a:rPr lang="en-US" sz="1250" b="1" dirty="0">
                <a:solidFill>
                  <a:srgbClr val="7A5E16"/>
                </a:solidFill>
                <a:latin typeface="Calibri" pitchFamily="34" charset="0"/>
                <a:ea typeface="Calibri" pitchFamily="34" charset="-122"/>
                <a:cs typeface="Calibri" pitchFamily="34" charset="-120"/>
              </a:rPr>
              <a:t>Present your completed Empathy Map to reviewers — fill the canvas above, or paste a photo of your team's map here in this slide.</a:t>
            </a:r>
            <a:endParaRPr lang="en-US" sz="1250" dirty="0"/>
          </a:p>
        </p:txBody>
      </p:sp>
      <p:pic>
        <p:nvPicPr>
          <p:cNvPr id="51" name="Picture 50">
            <a:extLst>
              <a:ext uri="{FF2B5EF4-FFF2-40B4-BE49-F238E27FC236}">
                <a16:creationId xmlns:a16="http://schemas.microsoft.com/office/drawing/2014/main" id="{71BAE965-185F-B3B3-7EA2-193E166371E4}"/>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dirty="0">
                <a:solidFill>
                  <a:srgbClr val="071A45"/>
                </a:solidFill>
                <a:latin typeface="Calibri" pitchFamily="34" charset="0"/>
                <a:ea typeface="Calibri" pitchFamily="34" charset="-122"/>
                <a:cs typeface="Calibri" pitchFamily="34" charset="-120"/>
              </a:rPr>
              <a:t>Insights &amp; Pain Points</a:t>
            </a:r>
            <a:endParaRPr lang="en-US" sz="2900" dirty="0"/>
          </a:p>
        </p:txBody>
      </p:sp>
      <p:sp>
        <p:nvSpPr>
          <p:cNvPr id="5" name="Text 1"/>
          <p:cNvSpPr/>
          <p:nvPr/>
        </p:nvSpPr>
        <p:spPr>
          <a:xfrm>
            <a:off x="502920" y="1481328"/>
            <a:ext cx="11155680" cy="365760"/>
          </a:xfrm>
          <a:prstGeom prst="rect">
            <a:avLst/>
          </a:prstGeom>
          <a:noFill/>
          <a:ln/>
        </p:spPr>
        <p:txBody>
          <a:bodyPr wrap="square" lIns="0" tIns="0" rIns="0" bIns="0" rtlCol="0" anchor="ctr"/>
          <a:lstStyle/>
          <a:p>
            <a:pPr marL="0" indent="0">
              <a:buNone/>
            </a:pPr>
            <a:r>
              <a:rPr lang="en-US" sz="1400" dirty="0">
                <a:solidFill>
                  <a:srgbClr val="5B6685"/>
                </a:solidFill>
                <a:latin typeface="Calibri" pitchFamily="34" charset="0"/>
                <a:ea typeface="Calibri" pitchFamily="34" charset="-122"/>
                <a:cs typeface="Calibri" pitchFamily="34" charset="-120"/>
              </a:rPr>
              <a:t>Read your map again — the gap between what the user SAYS and what they FEEL is where the insight hides.</a:t>
            </a:r>
            <a:endParaRPr lang="en-US" sz="1400" dirty="0"/>
          </a:p>
        </p:txBody>
      </p:sp>
      <p:pic>
        <p:nvPicPr>
          <p:cNvPr id="6" name="Image 2" descr="preencoded.png"/>
          <p:cNvPicPr>
            <a:picLocks noChangeAspect="1"/>
          </p:cNvPicPr>
          <p:nvPr/>
        </p:nvPicPr>
        <p:blipFill>
          <a:blip r:embed="rId4"/>
          <a:stretch>
            <a:fillRect/>
          </a:stretch>
        </p:blipFill>
        <p:spPr>
          <a:xfrm>
            <a:off x="640080" y="2121408"/>
            <a:ext cx="365760" cy="365760"/>
          </a:xfrm>
          <a:prstGeom prst="rect">
            <a:avLst/>
          </a:prstGeom>
        </p:spPr>
      </p:pic>
      <p:sp>
        <p:nvSpPr>
          <p:cNvPr id="7" name="Text 2"/>
          <p:cNvSpPr/>
          <p:nvPr/>
        </p:nvSpPr>
        <p:spPr>
          <a:xfrm>
            <a:off x="1097280" y="2103120"/>
            <a:ext cx="4754880" cy="402336"/>
          </a:xfrm>
          <a:prstGeom prst="rect">
            <a:avLst/>
          </a:prstGeom>
          <a:noFill/>
          <a:ln/>
        </p:spPr>
        <p:txBody>
          <a:bodyPr wrap="square" lIns="0" tIns="0" rIns="0" bIns="0" rtlCol="0" anchor="ctr"/>
          <a:lstStyle/>
          <a:p>
            <a:pPr marL="0" indent="0">
              <a:buNone/>
            </a:pPr>
            <a:r>
              <a:rPr lang="en-US" sz="1900" b="1" dirty="0">
                <a:solidFill>
                  <a:srgbClr val="071A45"/>
                </a:solidFill>
                <a:latin typeface="Calibri" pitchFamily="34" charset="0"/>
                <a:ea typeface="Calibri" pitchFamily="34" charset="-122"/>
                <a:cs typeface="Calibri" pitchFamily="34" charset="-120"/>
              </a:rPr>
              <a:t>Top 3 Pain Points</a:t>
            </a:r>
            <a:endParaRPr lang="en-US" sz="1900" dirty="0"/>
          </a:p>
        </p:txBody>
      </p:sp>
      <p:sp>
        <p:nvSpPr>
          <p:cNvPr id="8" name="Shape 3"/>
          <p:cNvSpPr/>
          <p:nvPr/>
        </p:nvSpPr>
        <p:spPr>
          <a:xfrm>
            <a:off x="640080" y="2697480"/>
            <a:ext cx="5349240" cy="1024128"/>
          </a:xfrm>
          <a:prstGeom prst="roundRect">
            <a:avLst>
              <a:gd name="adj" fmla="val 625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9" name="Shape 4"/>
          <p:cNvSpPr/>
          <p:nvPr/>
        </p:nvSpPr>
        <p:spPr>
          <a:xfrm>
            <a:off x="822960" y="2862072"/>
            <a:ext cx="347472" cy="347472"/>
          </a:xfrm>
          <a:prstGeom prst="ellipse">
            <a:avLst/>
          </a:prstGeom>
          <a:solidFill>
            <a:srgbClr val="FFC01E"/>
          </a:solidFill>
          <a:ln/>
        </p:spPr>
      </p:sp>
      <p:sp>
        <p:nvSpPr>
          <p:cNvPr id="10" name="Text 5"/>
          <p:cNvSpPr/>
          <p:nvPr/>
        </p:nvSpPr>
        <p:spPr>
          <a:xfrm>
            <a:off x="822960" y="2862072"/>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1</a:t>
            </a:r>
            <a:endParaRPr lang="en-US" sz="1400" dirty="0"/>
          </a:p>
        </p:txBody>
      </p:sp>
      <p:sp>
        <p:nvSpPr>
          <p:cNvPr id="11" name="Text 6"/>
          <p:cNvSpPr/>
          <p:nvPr/>
        </p:nvSpPr>
        <p:spPr>
          <a:xfrm>
            <a:off x="1316736" y="2843784"/>
            <a:ext cx="4489704" cy="310896"/>
          </a:xfrm>
          <a:prstGeom prst="rect">
            <a:avLst/>
          </a:prstGeom>
          <a:noFill/>
          <a:ln/>
        </p:spPr>
        <p:txBody>
          <a:bodyPr wrap="square" lIns="0" tIns="0" rIns="0" bIns="0" rtlCol="0" anchor="ctr"/>
          <a:lstStyle/>
          <a:p>
            <a:r>
              <a:rPr lang="en-IN" sz="1400" dirty="0">
                <a:solidFill>
                  <a:srgbClr val="FF0000"/>
                </a:solidFill>
              </a:rPr>
              <a:t>Limited Environmental Awareness</a:t>
            </a:r>
            <a:endParaRPr lang="en-US" sz="1350" dirty="0">
              <a:solidFill>
                <a:srgbClr val="FF0000"/>
              </a:solidFill>
            </a:endParaRPr>
          </a:p>
        </p:txBody>
      </p:sp>
      <p:sp>
        <p:nvSpPr>
          <p:cNvPr id="12" name="Text 7"/>
          <p:cNvSpPr/>
          <p:nvPr/>
        </p:nvSpPr>
        <p:spPr>
          <a:xfrm>
            <a:off x="1316736" y="3154680"/>
            <a:ext cx="4489704" cy="457200"/>
          </a:xfrm>
          <a:prstGeom prst="rect">
            <a:avLst/>
          </a:prstGeom>
          <a:noFill/>
          <a:ln/>
        </p:spPr>
        <p:txBody>
          <a:bodyPr wrap="square" lIns="0" tIns="0" rIns="0" bIns="0" rtlCol="0" anchor="ctr"/>
          <a:lstStyle/>
          <a:p>
            <a:pPr>
              <a:lnSpc>
                <a:spcPct val="95000"/>
              </a:lnSpc>
            </a:pPr>
            <a:r>
              <a:rPr lang="en-US" sz="1000" i="1" dirty="0">
                <a:solidFill>
                  <a:srgbClr val="8A93A8"/>
                </a:solidFill>
                <a:latin typeface="Calibri" pitchFamily="34" charset="0"/>
                <a:ea typeface="Calibri" pitchFamily="34" charset="-122"/>
                <a:cs typeface="Calibri" pitchFamily="34" charset="-120"/>
              </a:rPr>
              <a:t> </a:t>
            </a:r>
            <a:r>
              <a:rPr lang="en-IN" sz="1000" dirty="0">
                <a:latin typeface="Times New Roman" panose="02020603050405020304" pitchFamily="18" charset="0"/>
                <a:cs typeface="Times New Roman" panose="02020603050405020304" pitchFamily="18" charset="0"/>
              </a:rPr>
              <a:t>Current mobility aids like white canes help detect only ground-level obstacles and cannot identify overhead objects, moving vehicles, or changes in the surrounding environment</a:t>
            </a:r>
            <a:r>
              <a:rPr lang="en-IN" sz="1000" dirty="0"/>
              <a:t>.</a:t>
            </a:r>
            <a:endParaRPr lang="en-US" sz="1000" dirty="0"/>
          </a:p>
        </p:txBody>
      </p:sp>
      <p:sp>
        <p:nvSpPr>
          <p:cNvPr id="13" name="Shape 8"/>
          <p:cNvSpPr/>
          <p:nvPr/>
        </p:nvSpPr>
        <p:spPr>
          <a:xfrm>
            <a:off x="640080" y="3858768"/>
            <a:ext cx="5349240" cy="1024128"/>
          </a:xfrm>
          <a:prstGeom prst="roundRect">
            <a:avLst>
              <a:gd name="adj" fmla="val 625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4" name="Shape 9"/>
          <p:cNvSpPr/>
          <p:nvPr/>
        </p:nvSpPr>
        <p:spPr>
          <a:xfrm>
            <a:off x="822960" y="4023360"/>
            <a:ext cx="347472" cy="347472"/>
          </a:xfrm>
          <a:prstGeom prst="ellipse">
            <a:avLst/>
          </a:prstGeom>
          <a:solidFill>
            <a:srgbClr val="FFC01E"/>
          </a:solidFill>
          <a:ln/>
        </p:spPr>
      </p:sp>
      <p:sp>
        <p:nvSpPr>
          <p:cNvPr id="15" name="Text 10"/>
          <p:cNvSpPr/>
          <p:nvPr/>
        </p:nvSpPr>
        <p:spPr>
          <a:xfrm>
            <a:off x="822960" y="4023360"/>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2</a:t>
            </a:r>
            <a:endParaRPr lang="en-US" sz="1400" dirty="0"/>
          </a:p>
        </p:txBody>
      </p:sp>
      <p:sp>
        <p:nvSpPr>
          <p:cNvPr id="16" name="Text 11"/>
          <p:cNvSpPr/>
          <p:nvPr/>
        </p:nvSpPr>
        <p:spPr>
          <a:xfrm>
            <a:off x="1316736" y="4005072"/>
            <a:ext cx="4489704" cy="310896"/>
          </a:xfrm>
          <a:prstGeom prst="rect">
            <a:avLst/>
          </a:prstGeom>
          <a:noFill/>
          <a:ln/>
        </p:spPr>
        <p:txBody>
          <a:bodyPr wrap="square" lIns="0" tIns="0" rIns="0" bIns="0" rtlCol="0" anchor="ctr"/>
          <a:lstStyle/>
          <a:p>
            <a:r>
              <a:rPr lang="en-IN" sz="1400" dirty="0">
                <a:solidFill>
                  <a:srgbClr val="FF0000"/>
                </a:solidFill>
              </a:rPr>
              <a:t>Difficulty Navigating Unfamiliar Places</a:t>
            </a:r>
            <a:endParaRPr lang="en-US" sz="1350" dirty="0">
              <a:solidFill>
                <a:srgbClr val="FF0000"/>
              </a:solidFill>
            </a:endParaRPr>
          </a:p>
        </p:txBody>
      </p:sp>
      <p:sp>
        <p:nvSpPr>
          <p:cNvPr id="17" name="Text 12"/>
          <p:cNvSpPr/>
          <p:nvPr/>
        </p:nvSpPr>
        <p:spPr>
          <a:xfrm>
            <a:off x="1316736" y="4315968"/>
            <a:ext cx="4489704" cy="457200"/>
          </a:xfrm>
          <a:prstGeom prst="rect">
            <a:avLst/>
          </a:prstGeom>
          <a:noFill/>
          <a:ln/>
        </p:spPr>
        <p:txBody>
          <a:bodyPr wrap="square" lIns="0" tIns="0" rIns="0" bIns="0" rtlCol="0" anchor="ctr"/>
          <a:lstStyle/>
          <a:p>
            <a:pPr>
              <a:lnSpc>
                <a:spcPct val="95000"/>
              </a:lnSpc>
            </a:pPr>
            <a:r>
              <a:rPr lang="en-IN" sz="1000" dirty="0">
                <a:latin typeface="Times New Roman" panose="02020603050405020304" pitchFamily="18" charset="0"/>
                <a:cs typeface="Times New Roman" panose="02020603050405020304" pitchFamily="18" charset="0"/>
              </a:rPr>
              <a:t>Travelling in new or crowded locations is challenging because users lack real-time information about pathways, obstacles, and directions.</a:t>
            </a:r>
            <a:endParaRPr lang="en-US" sz="1000" dirty="0">
              <a:latin typeface="Times New Roman" panose="02020603050405020304" pitchFamily="18" charset="0"/>
              <a:cs typeface="Times New Roman" panose="02020603050405020304" pitchFamily="18" charset="0"/>
            </a:endParaRPr>
          </a:p>
        </p:txBody>
      </p:sp>
      <p:sp>
        <p:nvSpPr>
          <p:cNvPr id="18" name="Shape 13"/>
          <p:cNvSpPr/>
          <p:nvPr/>
        </p:nvSpPr>
        <p:spPr>
          <a:xfrm>
            <a:off x="640080" y="5047488"/>
            <a:ext cx="5349240" cy="1024128"/>
          </a:xfrm>
          <a:prstGeom prst="roundRect">
            <a:avLst>
              <a:gd name="adj" fmla="val 625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9" name="Shape 14"/>
          <p:cNvSpPr/>
          <p:nvPr/>
        </p:nvSpPr>
        <p:spPr>
          <a:xfrm>
            <a:off x="822960" y="5184648"/>
            <a:ext cx="347472" cy="347472"/>
          </a:xfrm>
          <a:prstGeom prst="ellipse">
            <a:avLst/>
          </a:prstGeom>
          <a:solidFill>
            <a:srgbClr val="FFC01E"/>
          </a:solidFill>
          <a:ln/>
        </p:spPr>
      </p:sp>
      <p:sp>
        <p:nvSpPr>
          <p:cNvPr id="20" name="Text 15"/>
          <p:cNvSpPr/>
          <p:nvPr/>
        </p:nvSpPr>
        <p:spPr>
          <a:xfrm>
            <a:off x="822960" y="5184648"/>
            <a:ext cx="347472" cy="347472"/>
          </a:xfrm>
          <a:prstGeom prst="rect">
            <a:avLst/>
          </a:prstGeom>
          <a:noFill/>
          <a:ln/>
        </p:spPr>
        <p:txBody>
          <a:bodyPr wrap="square" lIns="0" tIns="0" rIns="0" bIns="0" rtlCol="0" anchor="ctr"/>
          <a:lstStyle/>
          <a:p>
            <a:pPr marL="0" indent="0" algn="ctr">
              <a:buNone/>
            </a:pPr>
            <a:r>
              <a:rPr lang="en-US" sz="1400" b="1" dirty="0">
                <a:solidFill>
                  <a:srgbClr val="071A45"/>
                </a:solidFill>
                <a:latin typeface="Calibri" pitchFamily="34" charset="0"/>
                <a:ea typeface="Calibri" pitchFamily="34" charset="-122"/>
                <a:cs typeface="Calibri" pitchFamily="34" charset="-120"/>
              </a:rPr>
              <a:t>3</a:t>
            </a:r>
            <a:endParaRPr lang="en-US" sz="1400" dirty="0"/>
          </a:p>
        </p:txBody>
      </p:sp>
      <p:sp>
        <p:nvSpPr>
          <p:cNvPr id="21" name="Text 16"/>
          <p:cNvSpPr/>
          <p:nvPr/>
        </p:nvSpPr>
        <p:spPr>
          <a:xfrm>
            <a:off x="1316736" y="5166360"/>
            <a:ext cx="4489704" cy="310896"/>
          </a:xfrm>
          <a:prstGeom prst="rect">
            <a:avLst/>
          </a:prstGeom>
          <a:noFill/>
          <a:ln/>
        </p:spPr>
        <p:txBody>
          <a:bodyPr wrap="square" lIns="0" tIns="0" rIns="0" bIns="0" rtlCol="0" anchor="ctr"/>
          <a:lstStyle/>
          <a:p>
            <a:r>
              <a:rPr lang="en-IN" sz="1400" dirty="0">
                <a:solidFill>
                  <a:srgbClr val="FF0000"/>
                </a:solidFill>
              </a:rPr>
              <a:t>Dependence on Others</a:t>
            </a:r>
            <a:endParaRPr lang="en-US" sz="1350" dirty="0">
              <a:solidFill>
                <a:srgbClr val="FF0000"/>
              </a:solidFill>
            </a:endParaRPr>
          </a:p>
        </p:txBody>
      </p:sp>
      <p:sp>
        <p:nvSpPr>
          <p:cNvPr id="22" name="Text 17"/>
          <p:cNvSpPr/>
          <p:nvPr/>
        </p:nvSpPr>
        <p:spPr>
          <a:xfrm>
            <a:off x="1316736" y="5559552"/>
            <a:ext cx="4489704" cy="457200"/>
          </a:xfrm>
          <a:prstGeom prst="rect">
            <a:avLst/>
          </a:prstGeom>
          <a:noFill/>
          <a:ln/>
        </p:spPr>
        <p:txBody>
          <a:bodyPr wrap="square" lIns="0" tIns="0" rIns="0" bIns="0" rtlCol="0" anchor="ctr"/>
          <a:lstStyle/>
          <a:p>
            <a:pPr>
              <a:lnSpc>
                <a:spcPct val="95000"/>
              </a:lnSpc>
            </a:pPr>
            <a:r>
              <a:rPr lang="en-IN" sz="1000" dirty="0">
                <a:latin typeface="Times New Roman" panose="02020603050405020304" pitchFamily="18" charset="0"/>
                <a:cs typeface="Times New Roman" panose="02020603050405020304" pitchFamily="18" charset="0"/>
              </a:rPr>
              <a:t>Although many visually impaired individuals are capable of travelling independently, they still need assistance in complex situations such as crossing roads, locating entrances, or navigating public spaces.</a:t>
            </a:r>
          </a:p>
          <a:p>
            <a:pPr marL="0" indent="0">
              <a:lnSpc>
                <a:spcPct val="95000"/>
              </a:lnSpc>
              <a:buNone/>
            </a:pPr>
            <a:endParaRPr lang="en-US" sz="1000" dirty="0"/>
          </a:p>
        </p:txBody>
      </p:sp>
      <p:sp>
        <p:nvSpPr>
          <p:cNvPr id="23" name="Shape 18"/>
          <p:cNvSpPr/>
          <p:nvPr/>
        </p:nvSpPr>
        <p:spPr>
          <a:xfrm>
            <a:off x="6339842" y="2240280"/>
            <a:ext cx="5193792" cy="3822192"/>
          </a:xfrm>
          <a:prstGeom prst="roundRect">
            <a:avLst>
              <a:gd name="adj" fmla="val 2392"/>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pic>
        <p:nvPicPr>
          <p:cNvPr id="24" name="Image 3" descr="preencoded.png"/>
          <p:cNvPicPr>
            <a:picLocks noChangeAspect="1"/>
          </p:cNvPicPr>
          <p:nvPr/>
        </p:nvPicPr>
        <p:blipFill>
          <a:blip r:embed="rId5"/>
          <a:stretch>
            <a:fillRect/>
          </a:stretch>
        </p:blipFill>
        <p:spPr>
          <a:xfrm>
            <a:off x="6629400" y="2377440"/>
            <a:ext cx="420624" cy="420624"/>
          </a:xfrm>
          <a:prstGeom prst="rect">
            <a:avLst/>
          </a:prstGeom>
        </p:spPr>
      </p:pic>
      <p:sp>
        <p:nvSpPr>
          <p:cNvPr id="25" name="Text 19"/>
          <p:cNvSpPr/>
          <p:nvPr/>
        </p:nvSpPr>
        <p:spPr>
          <a:xfrm>
            <a:off x="7132320" y="2359152"/>
            <a:ext cx="4114800" cy="402336"/>
          </a:xfrm>
          <a:prstGeom prst="rect">
            <a:avLst/>
          </a:prstGeom>
          <a:noFill/>
          <a:ln/>
        </p:spPr>
        <p:txBody>
          <a:bodyPr wrap="square" lIns="0" tIns="0" rIns="0" bIns="0" rtlCol="0" anchor="ctr"/>
          <a:lstStyle/>
          <a:p>
            <a:pPr marL="0" indent="0">
              <a:buNone/>
            </a:pPr>
            <a:r>
              <a:rPr lang="en-US" sz="1900" b="1" dirty="0">
                <a:solidFill>
                  <a:srgbClr val="9A6B12"/>
                </a:solidFill>
                <a:latin typeface="Calibri" pitchFamily="34" charset="0"/>
                <a:ea typeface="Calibri" pitchFamily="34" charset="-122"/>
                <a:cs typeface="Calibri" pitchFamily="34" charset="-120"/>
              </a:rPr>
              <a:t>Key Insight</a:t>
            </a:r>
            <a:endParaRPr lang="en-US" sz="1900" dirty="0"/>
          </a:p>
        </p:txBody>
      </p:sp>
      <p:sp>
        <p:nvSpPr>
          <p:cNvPr id="26" name="Text 20"/>
          <p:cNvSpPr/>
          <p:nvPr/>
        </p:nvSpPr>
        <p:spPr>
          <a:xfrm>
            <a:off x="6629400" y="2907792"/>
            <a:ext cx="4663440" cy="457200"/>
          </a:xfrm>
          <a:prstGeom prst="rect">
            <a:avLst/>
          </a:prstGeom>
          <a:noFill/>
          <a:ln/>
        </p:spPr>
        <p:txBody>
          <a:bodyPr wrap="square" lIns="0" tIns="0" rIns="0" bIns="0" rtlCol="0" anchor="ctr"/>
          <a:lstStyle/>
          <a:p>
            <a:pPr marL="0" indent="0">
              <a:buNone/>
            </a:pPr>
            <a:r>
              <a:rPr lang="en-US" sz="1150" i="1" dirty="0">
                <a:solidFill>
                  <a:srgbClr val="8A6A2E"/>
                </a:solidFill>
                <a:latin typeface="Calibri" pitchFamily="34" charset="0"/>
                <a:ea typeface="Calibri" pitchFamily="34" charset="-122"/>
                <a:cs typeface="Calibri" pitchFamily="34" charset="-120"/>
              </a:rPr>
              <a:t>The one thing we now understand about our user that we didn't before:</a:t>
            </a:r>
            <a:endParaRPr lang="en-US" sz="1150" dirty="0"/>
          </a:p>
        </p:txBody>
      </p:sp>
      <p:sp>
        <p:nvSpPr>
          <p:cNvPr id="27" name="Text 21"/>
          <p:cNvSpPr/>
          <p:nvPr/>
        </p:nvSpPr>
        <p:spPr>
          <a:xfrm>
            <a:off x="6620256" y="3118104"/>
            <a:ext cx="4663440" cy="1463040"/>
          </a:xfrm>
          <a:prstGeom prst="rect">
            <a:avLst/>
          </a:prstGeom>
          <a:noFill/>
          <a:ln/>
        </p:spPr>
        <p:txBody>
          <a:bodyPr wrap="square" lIns="0" tIns="0" rIns="0" bIns="0" rtlCol="0" anchor="ctr"/>
          <a:lstStyle/>
          <a:p>
            <a:pPr>
              <a:lnSpc>
                <a:spcPct val="108000"/>
              </a:lnSpc>
            </a:pPr>
            <a:r>
              <a:rPr lang="en-IN" sz="1400" b="1" dirty="0">
                <a:latin typeface="Times New Roman" panose="02020603050405020304" pitchFamily="18" charset="0"/>
                <a:cs typeface="Times New Roman" panose="02020603050405020304" pitchFamily="18" charset="0"/>
              </a:rPr>
              <a:t>Our interaction with Mr. Manokaran revealed that visually impaired individuals do not seek sympathy—they seek independence. They need a solution that provides real-time awareness of their surroundings, enabling them to travel safely and confidently without relying on others.</a:t>
            </a:r>
            <a:endParaRPr lang="en-US" sz="1400" dirty="0">
              <a:latin typeface="Times New Roman" panose="02020603050405020304" pitchFamily="18" charset="0"/>
              <a:cs typeface="Times New Roman" panose="02020603050405020304" pitchFamily="18" charset="0"/>
            </a:endParaRPr>
          </a:p>
        </p:txBody>
      </p:sp>
      <p:sp>
        <p:nvSpPr>
          <p:cNvPr id="28" name="Text 22"/>
          <p:cNvSpPr/>
          <p:nvPr/>
        </p:nvSpPr>
        <p:spPr>
          <a:xfrm>
            <a:off x="6602914" y="5056527"/>
            <a:ext cx="4663440" cy="457200"/>
          </a:xfrm>
          <a:prstGeom prst="rect">
            <a:avLst/>
          </a:prstGeom>
          <a:noFill/>
          <a:ln/>
        </p:spPr>
        <p:txBody>
          <a:bodyPr wrap="square" lIns="0" tIns="0" rIns="0" bIns="0" rtlCol="0" anchor="ctr"/>
          <a:lstStyle/>
          <a:p>
            <a:r>
              <a:rPr lang="en-US" sz="1250" b="1" dirty="0">
                <a:solidFill>
                  <a:srgbClr val="9A6B12"/>
                </a:solidFill>
                <a:latin typeface="Calibri" pitchFamily="34" charset="0"/>
                <a:ea typeface="Calibri" pitchFamily="34" charset="-122"/>
                <a:cs typeface="Calibri" pitchFamily="34" charset="-120"/>
              </a:rPr>
              <a:t>This surprised us:  </a:t>
            </a:r>
          </a:p>
          <a:p>
            <a:r>
              <a:rPr lang="en-IN" sz="1400" b="1" dirty="0">
                <a:latin typeface="Times New Roman" panose="02020603050405020304" pitchFamily="18" charset="0"/>
                <a:cs typeface="Times New Roman" panose="02020603050405020304" pitchFamily="18" charset="0"/>
              </a:rPr>
              <a:t>We were surprised to learn that the biggest challenge is not the loss of vision itself, but the lack of accessible technology that can describe the environment in real time. We also learned that confidence and independence are more valuable to users than simply reaching their destination.</a:t>
            </a:r>
            <a:endParaRPr lang="en-US" sz="1250" b="1" dirty="0">
              <a:latin typeface="Times New Roman" panose="02020603050405020304" pitchFamily="18" charset="0"/>
              <a:cs typeface="Times New Roman" panose="02020603050405020304" pitchFamily="18" charset="0"/>
            </a:endParaRPr>
          </a:p>
        </p:txBody>
      </p:sp>
      <p:sp>
        <p:nvSpPr>
          <p:cNvPr id="29" name="Text 23"/>
          <p:cNvSpPr/>
          <p:nvPr/>
        </p:nvSpPr>
        <p:spPr>
          <a:xfrm>
            <a:off x="502920" y="6455664"/>
            <a:ext cx="8229600" cy="274320"/>
          </a:xfrm>
          <a:prstGeom prst="rect">
            <a:avLst/>
          </a:prstGeom>
          <a:noFill/>
          <a:ln/>
        </p:spPr>
        <p:txBody>
          <a:bodyPr wrap="square" lIns="0" tIns="0" rIns="0" bIns="0" rtlCol="0" anchor="ctr"/>
          <a:lstStyle/>
          <a:p>
            <a:pPr marL="0" indent="0">
              <a:buNone/>
            </a:pPr>
            <a:r>
              <a:rPr lang="en-US" sz="900" dirty="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dirty="0"/>
          </a:p>
        </p:txBody>
      </p:sp>
      <p:pic>
        <p:nvPicPr>
          <p:cNvPr id="31" name="Picture 30">
            <a:extLst>
              <a:ext uri="{FF2B5EF4-FFF2-40B4-BE49-F238E27FC236}">
                <a16:creationId xmlns:a16="http://schemas.microsoft.com/office/drawing/2014/main" id="{5924CAA3-EBB4-A2A1-24A8-118A0CEBB886}"/>
              </a:ext>
            </a:extLst>
          </p:cNvPr>
          <p:cNvPicPr>
            <a:picLocks noChangeAspect="1"/>
          </p:cNvPicPr>
          <p:nvPr/>
        </p:nvPicPr>
        <p:blipFill>
          <a:blip r:embed="rId6"/>
          <a:stretch>
            <a:fillRect/>
          </a:stretch>
        </p:blipFill>
        <p:spPr>
          <a:xfrm>
            <a:off x="10363654" y="371776"/>
            <a:ext cx="1325426" cy="6035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dirty="0">
                <a:solidFill>
                  <a:srgbClr val="071A45"/>
                </a:solidFill>
                <a:latin typeface="Calibri" pitchFamily="34" charset="0"/>
                <a:ea typeface="Calibri" pitchFamily="34" charset="-122"/>
                <a:cs typeface="Calibri" pitchFamily="34" charset="-120"/>
              </a:rPr>
              <a:t>Problem Statement Canvas</a:t>
            </a:r>
            <a:endParaRPr lang="en-US" sz="2900" dirty="0"/>
          </a:p>
        </p:txBody>
      </p:sp>
      <p:sp>
        <p:nvSpPr>
          <p:cNvPr id="5" name="Text 1"/>
          <p:cNvSpPr/>
          <p:nvPr/>
        </p:nvSpPr>
        <p:spPr>
          <a:xfrm>
            <a:off x="502920" y="1463040"/>
            <a:ext cx="11155680" cy="292608"/>
          </a:xfrm>
          <a:prstGeom prst="rect">
            <a:avLst/>
          </a:prstGeom>
          <a:noFill/>
          <a:ln/>
        </p:spPr>
        <p:txBody>
          <a:bodyPr wrap="square" lIns="0" tIns="0" rIns="0" bIns="0" rtlCol="0" anchor="ctr"/>
          <a:lstStyle/>
          <a:p>
            <a:pPr marL="0" indent="0">
              <a:buNone/>
            </a:pPr>
            <a:r>
              <a:rPr lang="en-US" sz="1050" b="1" dirty="0">
                <a:solidFill>
                  <a:srgbClr val="071A45"/>
                </a:solidFill>
                <a:latin typeface="Calibri" pitchFamily="34" charset="0"/>
                <a:ea typeface="Calibri" pitchFamily="34" charset="-122"/>
                <a:cs typeface="Calibri" pitchFamily="34" charset="-120"/>
              </a:rPr>
              <a:t>Year &amp; Dept/Section: </a:t>
            </a:r>
            <a:r>
              <a:rPr lang="en-US" sz="1050" i="1" dirty="0">
                <a:solidFill>
                  <a:srgbClr val="8A93A8"/>
                </a:solidFill>
                <a:latin typeface="Calibri" pitchFamily="34" charset="0"/>
                <a:ea typeface="Calibri" pitchFamily="34" charset="-122"/>
                <a:cs typeface="Calibri" pitchFamily="34" charset="-120"/>
              </a:rPr>
              <a:t>[ II/ECE/A ]    </a:t>
            </a:r>
            <a:r>
              <a:rPr lang="en-US" sz="1050" b="1" dirty="0">
                <a:solidFill>
                  <a:srgbClr val="071A45"/>
                </a:solidFill>
                <a:latin typeface="Calibri" pitchFamily="34" charset="0"/>
                <a:ea typeface="Calibri" pitchFamily="34" charset="-122"/>
                <a:cs typeface="Calibri" pitchFamily="34" charset="-120"/>
              </a:rPr>
              <a:t>Team / Batch No: </a:t>
            </a:r>
            <a:r>
              <a:rPr lang="en-US" sz="1050" i="1" dirty="0">
                <a:solidFill>
                  <a:srgbClr val="8A93A8"/>
                </a:solidFill>
                <a:latin typeface="Calibri" pitchFamily="34" charset="0"/>
                <a:ea typeface="Calibri" pitchFamily="34" charset="-122"/>
                <a:cs typeface="Calibri" pitchFamily="34" charset="-120"/>
              </a:rPr>
              <a:t>[VISION MAKERS]    </a:t>
            </a:r>
            <a:r>
              <a:rPr lang="en-US" sz="1050" b="1" dirty="0">
                <a:solidFill>
                  <a:srgbClr val="071A45"/>
                </a:solidFill>
                <a:latin typeface="Calibri" pitchFamily="34" charset="0"/>
                <a:ea typeface="Calibri" pitchFamily="34" charset="-122"/>
                <a:cs typeface="Calibri" pitchFamily="34" charset="-120"/>
              </a:rPr>
              <a:t>Members: </a:t>
            </a:r>
            <a:r>
              <a:rPr lang="en-US" sz="1050" i="1" dirty="0">
                <a:solidFill>
                  <a:srgbClr val="8A93A8"/>
                </a:solidFill>
                <a:latin typeface="Calibri" pitchFamily="34" charset="0"/>
                <a:ea typeface="Calibri" pitchFamily="34" charset="-122"/>
                <a:cs typeface="Calibri" pitchFamily="34" charset="-120"/>
              </a:rPr>
              <a:t>[ABDUL KALAM, AKSHAYAKUMAR, BARATHSURIYA, DEVDHARSHAN]</a:t>
            </a:r>
            <a:endParaRPr lang="en-US" sz="1050" dirty="0"/>
          </a:p>
        </p:txBody>
      </p:sp>
      <p:sp>
        <p:nvSpPr>
          <p:cNvPr id="6" name="Shape 2"/>
          <p:cNvSpPr/>
          <p:nvPr/>
        </p:nvSpPr>
        <p:spPr>
          <a:xfrm>
            <a:off x="502920" y="1828800"/>
            <a:ext cx="11183112" cy="566928"/>
          </a:xfrm>
          <a:prstGeom prst="roundRect">
            <a:avLst>
              <a:gd name="adj" fmla="val 11290"/>
            </a:avLst>
          </a:prstGeom>
          <a:solidFill>
            <a:srgbClr val="E9EFFC"/>
          </a:solidFill>
          <a:ln w="12700">
            <a:solidFill>
              <a:srgbClr val="D2DEF8"/>
            </a:solidFill>
            <a:prstDash val="solid"/>
          </a:ln>
        </p:spPr>
      </p:sp>
      <p:sp>
        <p:nvSpPr>
          <p:cNvPr id="7" name="Text 3"/>
          <p:cNvSpPr/>
          <p:nvPr/>
        </p:nvSpPr>
        <p:spPr>
          <a:xfrm>
            <a:off x="731520" y="1828800"/>
            <a:ext cx="10789920" cy="566928"/>
          </a:xfrm>
          <a:prstGeom prst="rect">
            <a:avLst/>
          </a:prstGeom>
          <a:noFill/>
          <a:ln/>
        </p:spPr>
        <p:txBody>
          <a:bodyPr wrap="square" lIns="0" tIns="0" rIns="0" bIns="0" rtlCol="0" anchor="ctr"/>
          <a:lstStyle/>
          <a:p>
            <a:pPr marL="0" indent="0">
              <a:buNone/>
            </a:pPr>
            <a:r>
              <a:rPr lang="en-US" sz="1200" b="1" dirty="0">
                <a:solidFill>
                  <a:srgbClr val="1C52C2"/>
                </a:solidFill>
                <a:latin typeface="Calibri" pitchFamily="34" charset="0"/>
                <a:ea typeface="Calibri" pitchFamily="34" charset="-122"/>
                <a:cs typeface="Calibri" pitchFamily="34" charset="-120"/>
              </a:rPr>
              <a:t>TARGET USER   </a:t>
            </a:r>
            <a:r>
              <a:rPr lang="en-US" sz="1200" dirty="0">
                <a:solidFill>
                  <a:srgbClr val="071A45"/>
                </a:solidFill>
                <a:latin typeface="Calibri" pitchFamily="34" charset="0"/>
                <a:ea typeface="Calibri" pitchFamily="34" charset="-122"/>
                <a:cs typeface="Calibri" pitchFamily="34" charset="-120"/>
              </a:rPr>
              <a:t>Who is facing the problem? (age group / role / location):  </a:t>
            </a:r>
            <a:r>
              <a:rPr lang="en-US" sz="1200" i="1" dirty="0">
                <a:solidFill>
                  <a:srgbClr val="8A93A8"/>
                </a:solidFill>
                <a:latin typeface="Calibri" pitchFamily="34" charset="0"/>
                <a:ea typeface="Calibri" pitchFamily="34" charset="-122"/>
                <a:cs typeface="Calibri" pitchFamily="34" charset="-120"/>
              </a:rPr>
              <a:t>[ ..5-60/VISUALLY IMPAIRED PERSONS/ALL OVER WORLD ]</a:t>
            </a:r>
            <a:endParaRPr lang="en-US" sz="1200" dirty="0"/>
          </a:p>
        </p:txBody>
      </p:sp>
      <p:sp>
        <p:nvSpPr>
          <p:cNvPr id="8" name="Shape 4"/>
          <p:cNvSpPr/>
          <p:nvPr/>
        </p:nvSpPr>
        <p:spPr>
          <a:xfrm>
            <a:off x="502920" y="2510028"/>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9" name="Text 5"/>
          <p:cNvSpPr/>
          <p:nvPr/>
        </p:nvSpPr>
        <p:spPr>
          <a:xfrm>
            <a:off x="704088" y="2651760"/>
            <a:ext cx="3236976"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CONTEXT</a:t>
            </a:r>
            <a:endParaRPr lang="en-US" sz="1350" dirty="0"/>
          </a:p>
        </p:txBody>
      </p:sp>
      <p:sp>
        <p:nvSpPr>
          <p:cNvPr id="10" name="Text 6"/>
          <p:cNvSpPr/>
          <p:nvPr/>
        </p:nvSpPr>
        <p:spPr>
          <a:xfrm>
            <a:off x="623421" y="3355953"/>
            <a:ext cx="3453594" cy="310896"/>
          </a:xfrm>
          <a:prstGeom prst="rect">
            <a:avLst/>
          </a:prstGeom>
          <a:noFill/>
          <a:ln/>
        </p:spPr>
        <p:txBody>
          <a:bodyPr wrap="square" lIns="0" tIns="0" rIns="0" bIns="0" rtlCol="0" anchor="ctr"/>
          <a:lstStyle/>
          <a:p>
            <a:pPr marL="0" indent="0">
              <a:lnSpc>
                <a:spcPct val="95000"/>
              </a:lnSpc>
              <a:buNone/>
            </a:pPr>
            <a:r>
              <a:rPr lang="en-US" sz="1000" i="1" dirty="0">
                <a:solidFill>
                  <a:srgbClr val="8A93A8"/>
                </a:solidFill>
                <a:latin typeface="Calibri" pitchFamily="34" charset="0"/>
                <a:ea typeface="Calibri" pitchFamily="34" charset="-122"/>
                <a:cs typeface="Calibri" pitchFamily="34" charset="-120"/>
              </a:rPr>
              <a:t>When does the problem occur?</a:t>
            </a:r>
          </a:p>
          <a:p>
            <a:pPr>
              <a:lnSpc>
                <a:spcPct val="95000"/>
              </a:lnSpc>
            </a:pPr>
            <a:r>
              <a:rPr lang="en-IN" sz="1000" dirty="0">
                <a:latin typeface="Times New Roman" panose="02020603050405020304" pitchFamily="18" charset="0"/>
                <a:cs typeface="Times New Roman" panose="02020603050405020304" pitchFamily="18" charset="0"/>
              </a:rPr>
              <a:t>The problem occurs during daily activities such as walking on busy roads, crossing streets, using public transportation, navigating unfamiliar places, shopping, and moving through crowded environments where obstacles and changes cannot be easily detected</a:t>
            </a:r>
            <a:r>
              <a:rPr lang="en-IN" sz="1000" dirty="0"/>
              <a:t>.</a:t>
            </a:r>
          </a:p>
          <a:p>
            <a:pPr marL="0" indent="0">
              <a:lnSpc>
                <a:spcPct val="95000"/>
              </a:lnSpc>
              <a:buNone/>
            </a:pPr>
            <a:endParaRPr lang="en-US" sz="1000" dirty="0"/>
          </a:p>
        </p:txBody>
      </p:sp>
      <p:sp>
        <p:nvSpPr>
          <p:cNvPr id="11" name="Shape 7"/>
          <p:cNvSpPr/>
          <p:nvPr/>
        </p:nvSpPr>
        <p:spPr>
          <a:xfrm>
            <a:off x="4297680" y="2499780"/>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2" name="Text 8"/>
          <p:cNvSpPr/>
          <p:nvPr/>
        </p:nvSpPr>
        <p:spPr>
          <a:xfrm>
            <a:off x="4489704" y="2651760"/>
            <a:ext cx="3236976"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PROBLEM</a:t>
            </a:r>
            <a:endParaRPr lang="en-US" sz="1350" dirty="0"/>
          </a:p>
        </p:txBody>
      </p:sp>
      <p:sp>
        <p:nvSpPr>
          <p:cNvPr id="13" name="Text 9"/>
          <p:cNvSpPr/>
          <p:nvPr/>
        </p:nvSpPr>
        <p:spPr>
          <a:xfrm>
            <a:off x="4507992" y="3201871"/>
            <a:ext cx="3236976" cy="457200"/>
          </a:xfrm>
          <a:prstGeom prst="rect">
            <a:avLst/>
          </a:prstGeom>
          <a:noFill/>
          <a:ln/>
        </p:spPr>
        <p:txBody>
          <a:bodyPr wrap="square" lIns="0" tIns="0" rIns="0" bIns="0" rtlCol="0" anchor="ctr"/>
          <a:lstStyle/>
          <a:p>
            <a:pPr marL="0" indent="0">
              <a:lnSpc>
                <a:spcPct val="95000"/>
              </a:lnSpc>
              <a:buNone/>
            </a:pPr>
            <a:r>
              <a:rPr lang="en-US" sz="1000" i="1" dirty="0">
                <a:solidFill>
                  <a:srgbClr val="8A93A8"/>
                </a:solidFill>
                <a:latin typeface="Calibri" pitchFamily="34" charset="0"/>
                <a:ea typeface="Calibri" pitchFamily="34" charset="-122"/>
                <a:cs typeface="Calibri" pitchFamily="34" charset="-120"/>
              </a:rPr>
              <a:t>What is the root cause of the problem?</a:t>
            </a:r>
          </a:p>
          <a:p>
            <a:pPr>
              <a:lnSpc>
                <a:spcPct val="95000"/>
              </a:lnSpc>
            </a:pPr>
            <a:r>
              <a:rPr lang="en-IN" sz="1000" dirty="0">
                <a:latin typeface="Times New Roman" panose="02020603050405020304" pitchFamily="18" charset="0"/>
                <a:cs typeface="Times New Roman" panose="02020603050405020304" pitchFamily="18" charset="0"/>
              </a:rPr>
              <a:t>Visually impaired individuals lack real-time awareness of their surroundings. Current mobility aids, such as white canes, detect only nearby ground-level obstacles and cannot identify moving objects, overhead obstacles, or provide environmental information, making independent navigation difficult and unsafe.</a:t>
            </a:r>
            <a:endParaRPr lang="en-US" sz="1000" dirty="0">
              <a:latin typeface="Times New Roman" panose="02020603050405020304" pitchFamily="18" charset="0"/>
              <a:cs typeface="Times New Roman" panose="02020603050405020304" pitchFamily="18" charset="0"/>
            </a:endParaRPr>
          </a:p>
        </p:txBody>
      </p:sp>
      <p:sp>
        <p:nvSpPr>
          <p:cNvPr id="14" name="Shape 10"/>
          <p:cNvSpPr/>
          <p:nvPr/>
        </p:nvSpPr>
        <p:spPr>
          <a:xfrm>
            <a:off x="8074152" y="250545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5" name="Text 11"/>
          <p:cNvSpPr/>
          <p:nvPr/>
        </p:nvSpPr>
        <p:spPr>
          <a:xfrm>
            <a:off x="8275320" y="2651760"/>
            <a:ext cx="3236976"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ALTERNATIVES</a:t>
            </a:r>
            <a:endParaRPr lang="en-US" sz="1350" dirty="0"/>
          </a:p>
        </p:txBody>
      </p:sp>
      <p:sp>
        <p:nvSpPr>
          <p:cNvPr id="16" name="Text 12"/>
          <p:cNvSpPr/>
          <p:nvPr/>
        </p:nvSpPr>
        <p:spPr>
          <a:xfrm>
            <a:off x="8284464" y="3191361"/>
            <a:ext cx="3236976" cy="457200"/>
          </a:xfrm>
          <a:prstGeom prst="rect">
            <a:avLst/>
          </a:prstGeom>
          <a:noFill/>
          <a:ln/>
        </p:spPr>
        <p:txBody>
          <a:bodyPr wrap="square" lIns="0" tIns="0" rIns="0" bIns="0" rtlCol="0" anchor="ctr"/>
          <a:lstStyle/>
          <a:p>
            <a:pPr marL="0" indent="0">
              <a:lnSpc>
                <a:spcPct val="95000"/>
              </a:lnSpc>
              <a:buNone/>
            </a:pPr>
            <a:r>
              <a:rPr lang="en-US" sz="1000" i="1" dirty="0">
                <a:solidFill>
                  <a:srgbClr val="8A93A8"/>
                </a:solidFill>
                <a:latin typeface="Calibri" pitchFamily="34" charset="0"/>
                <a:ea typeface="Calibri" pitchFamily="34" charset="-122"/>
                <a:cs typeface="Calibri" pitchFamily="34" charset="-120"/>
              </a:rPr>
              <a:t>What do customers do now to fix the problem?</a:t>
            </a:r>
          </a:p>
          <a:p>
            <a:pPr marL="171450" indent="-171450">
              <a:lnSpc>
                <a:spcPct val="95000"/>
              </a:lnSpc>
              <a:buFont typeface="Wingdings" panose="05000000000000000000" pitchFamily="2" charset="2"/>
              <a:buChar char="v"/>
            </a:pPr>
            <a:r>
              <a:rPr lang="en-IN" sz="1000" dirty="0">
                <a:latin typeface="Times New Roman" panose="02020603050405020304" pitchFamily="18" charset="0"/>
                <a:cs typeface="Times New Roman" panose="02020603050405020304" pitchFamily="18" charset="0"/>
              </a:rPr>
              <a:t>White cane </a:t>
            </a:r>
          </a:p>
          <a:p>
            <a:pPr marL="171450" indent="-171450">
              <a:lnSpc>
                <a:spcPct val="95000"/>
              </a:lnSpc>
              <a:buFont typeface="Wingdings" panose="05000000000000000000" pitchFamily="2" charset="2"/>
              <a:buChar char="v"/>
            </a:pPr>
            <a:r>
              <a:rPr lang="en-IN" sz="1000" dirty="0">
                <a:latin typeface="Times New Roman" panose="02020603050405020304" pitchFamily="18" charset="0"/>
                <a:cs typeface="Times New Roman" panose="02020603050405020304" pitchFamily="18" charset="0"/>
              </a:rPr>
              <a:t>Guide dog </a:t>
            </a:r>
          </a:p>
          <a:p>
            <a:pPr marL="171450" indent="-171450">
              <a:lnSpc>
                <a:spcPct val="95000"/>
              </a:lnSpc>
              <a:buFont typeface="Wingdings" panose="05000000000000000000" pitchFamily="2" charset="2"/>
              <a:buChar char="v"/>
            </a:pPr>
            <a:r>
              <a:rPr lang="en-IN" sz="1000" dirty="0">
                <a:latin typeface="Times New Roman" panose="02020603050405020304" pitchFamily="18" charset="0"/>
                <a:cs typeface="Times New Roman" panose="02020603050405020304" pitchFamily="18" charset="0"/>
              </a:rPr>
              <a:t>Assistance from family members or strangers</a:t>
            </a:r>
          </a:p>
          <a:p>
            <a:pPr marL="171450" indent="-171450">
              <a:lnSpc>
                <a:spcPct val="95000"/>
              </a:lnSpc>
              <a:buFont typeface="Wingdings" panose="05000000000000000000" pitchFamily="2" charset="2"/>
              <a:buChar char="v"/>
            </a:pPr>
            <a:r>
              <a:rPr lang="en-IN" sz="1000" dirty="0">
                <a:latin typeface="Times New Roman" panose="02020603050405020304" pitchFamily="18" charset="0"/>
                <a:cs typeface="Times New Roman" panose="02020603050405020304" pitchFamily="18" charset="0"/>
              </a:rPr>
              <a:t> Smartphone accessibility apps (Google Maps, screen readers, voice assistants) </a:t>
            </a:r>
          </a:p>
          <a:p>
            <a:pPr marL="171450" indent="-171450">
              <a:lnSpc>
                <a:spcPct val="95000"/>
              </a:lnSpc>
              <a:buFont typeface="Wingdings" panose="05000000000000000000" pitchFamily="2" charset="2"/>
              <a:buChar char="v"/>
            </a:pPr>
            <a:r>
              <a:rPr lang="en-IN" sz="1000" dirty="0">
                <a:latin typeface="Times New Roman" panose="02020603050405020304" pitchFamily="18" charset="0"/>
                <a:cs typeface="Times New Roman" panose="02020603050405020304" pitchFamily="18" charset="0"/>
              </a:rPr>
              <a:t>Memory of familiar routes</a:t>
            </a:r>
            <a:endParaRPr lang="en-US" sz="1000" dirty="0">
              <a:latin typeface="Times New Roman" panose="02020603050405020304" pitchFamily="18" charset="0"/>
              <a:cs typeface="Times New Roman" panose="02020603050405020304" pitchFamily="18" charset="0"/>
            </a:endParaRPr>
          </a:p>
        </p:txBody>
      </p:sp>
      <p:sp>
        <p:nvSpPr>
          <p:cNvPr id="17" name="Shape 13"/>
          <p:cNvSpPr/>
          <p:nvPr/>
        </p:nvSpPr>
        <p:spPr>
          <a:xfrm>
            <a:off x="502920" y="424281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dirty="0"/>
          </a:p>
        </p:txBody>
      </p:sp>
      <p:sp>
        <p:nvSpPr>
          <p:cNvPr id="18" name="Text 14"/>
          <p:cNvSpPr/>
          <p:nvPr/>
        </p:nvSpPr>
        <p:spPr>
          <a:xfrm>
            <a:off x="704088" y="4389120"/>
            <a:ext cx="3236976"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CUSTOMERS</a:t>
            </a:r>
            <a:endParaRPr lang="en-US" sz="1350" dirty="0"/>
          </a:p>
        </p:txBody>
      </p:sp>
      <p:sp>
        <p:nvSpPr>
          <p:cNvPr id="19" name="Text 15"/>
          <p:cNvSpPr/>
          <p:nvPr/>
        </p:nvSpPr>
        <p:spPr>
          <a:xfrm>
            <a:off x="623421" y="4892040"/>
            <a:ext cx="3236976" cy="457200"/>
          </a:xfrm>
          <a:prstGeom prst="rect">
            <a:avLst/>
          </a:prstGeom>
          <a:noFill/>
          <a:ln/>
        </p:spPr>
        <p:txBody>
          <a:bodyPr wrap="square" lIns="0" tIns="0" rIns="0" bIns="0" rtlCol="0" anchor="ctr"/>
          <a:lstStyle/>
          <a:p>
            <a:pPr marL="0" indent="0">
              <a:lnSpc>
                <a:spcPct val="95000"/>
              </a:lnSpc>
              <a:buNone/>
            </a:pPr>
            <a:r>
              <a:rPr lang="en-US" sz="1000" i="1" dirty="0">
                <a:solidFill>
                  <a:srgbClr val="8A93A8"/>
                </a:solidFill>
                <a:latin typeface="Calibri" pitchFamily="34" charset="0"/>
                <a:ea typeface="Calibri" pitchFamily="34" charset="-122"/>
                <a:cs typeface="Calibri" pitchFamily="34" charset="-120"/>
              </a:rPr>
              <a:t>Who has the problem most often?</a:t>
            </a:r>
          </a:p>
          <a:p>
            <a:pPr marL="171450" indent="-171450">
              <a:lnSpc>
                <a:spcPct val="95000"/>
              </a:lnSpc>
              <a:buFont typeface="Wingdings" panose="05000000000000000000" pitchFamily="2" charset="2"/>
              <a:buChar char="Ø"/>
            </a:pPr>
            <a:r>
              <a:rPr lang="en-IN" sz="1000" dirty="0">
                <a:latin typeface="Times New Roman" panose="02020603050405020304" pitchFamily="18" charset="0"/>
                <a:cs typeface="Times New Roman" panose="02020603050405020304" pitchFamily="18" charset="0"/>
              </a:rPr>
              <a:t>Blind individuals</a:t>
            </a:r>
          </a:p>
          <a:p>
            <a:pPr marL="171450" indent="-171450">
              <a:lnSpc>
                <a:spcPct val="95000"/>
              </a:lnSpc>
              <a:buFont typeface="Wingdings" panose="05000000000000000000" pitchFamily="2" charset="2"/>
              <a:buChar char="Ø"/>
            </a:pPr>
            <a:r>
              <a:rPr lang="en-IN" sz="1000" dirty="0">
                <a:latin typeface="Times New Roman" panose="02020603050405020304" pitchFamily="18" charset="0"/>
                <a:cs typeface="Times New Roman" panose="02020603050405020304" pitchFamily="18" charset="0"/>
              </a:rPr>
              <a:t>People with severe visual impairment or low vision </a:t>
            </a:r>
          </a:p>
          <a:p>
            <a:pPr marL="171450" indent="-171450">
              <a:lnSpc>
                <a:spcPct val="95000"/>
              </a:lnSpc>
              <a:buFont typeface="Wingdings" panose="05000000000000000000" pitchFamily="2" charset="2"/>
              <a:buChar char="Ø"/>
            </a:pPr>
            <a:r>
              <a:rPr lang="en-IN" sz="1000" dirty="0">
                <a:latin typeface="Times New Roman" panose="02020603050405020304" pitchFamily="18" charset="0"/>
                <a:cs typeface="Times New Roman" panose="02020603050405020304" pitchFamily="18" charset="0"/>
              </a:rPr>
              <a:t>Elderly people with vision loss </a:t>
            </a:r>
          </a:p>
          <a:p>
            <a:pPr marL="171450" indent="-171450">
              <a:lnSpc>
                <a:spcPct val="95000"/>
              </a:lnSpc>
              <a:buFont typeface="Wingdings" panose="05000000000000000000" pitchFamily="2" charset="2"/>
              <a:buChar char="Ø"/>
            </a:pPr>
            <a:r>
              <a:rPr lang="en-IN" sz="1000" dirty="0">
                <a:latin typeface="Times New Roman" panose="02020603050405020304" pitchFamily="18" charset="0"/>
                <a:cs typeface="Times New Roman" panose="02020603050405020304" pitchFamily="18" charset="0"/>
              </a:rPr>
              <a:t>Students and working professionals with visual disabilities</a:t>
            </a:r>
          </a:p>
          <a:p>
            <a:pPr marL="171450" indent="-171450">
              <a:lnSpc>
                <a:spcPct val="95000"/>
              </a:lnSpc>
              <a:buFont typeface="Wingdings" panose="05000000000000000000" pitchFamily="2" charset="2"/>
              <a:buChar char="Ø"/>
            </a:pPr>
            <a:r>
              <a:rPr lang="en-IN" sz="1000" dirty="0">
                <a:latin typeface="Times New Roman" panose="02020603050405020304" pitchFamily="18" charset="0"/>
                <a:cs typeface="Times New Roman" panose="02020603050405020304" pitchFamily="18" charset="0"/>
              </a:rPr>
              <a:t>People travelling independently in unfamiliar environments</a:t>
            </a:r>
            <a:endParaRPr lang="en-US" sz="1000" dirty="0">
              <a:latin typeface="Times New Roman" panose="02020603050405020304" pitchFamily="18" charset="0"/>
              <a:cs typeface="Times New Roman" panose="02020603050405020304" pitchFamily="18" charset="0"/>
            </a:endParaRPr>
          </a:p>
        </p:txBody>
      </p:sp>
      <p:sp>
        <p:nvSpPr>
          <p:cNvPr id="20" name="Shape 16"/>
          <p:cNvSpPr/>
          <p:nvPr/>
        </p:nvSpPr>
        <p:spPr>
          <a:xfrm>
            <a:off x="4288536" y="424281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1" name="Text 17"/>
          <p:cNvSpPr/>
          <p:nvPr/>
        </p:nvSpPr>
        <p:spPr>
          <a:xfrm>
            <a:off x="4489704" y="4389120"/>
            <a:ext cx="3236976"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EMOTIONAL IMPACT</a:t>
            </a:r>
            <a:endParaRPr lang="en-US" sz="1350" dirty="0"/>
          </a:p>
        </p:txBody>
      </p:sp>
      <p:sp>
        <p:nvSpPr>
          <p:cNvPr id="22" name="Text 18"/>
          <p:cNvSpPr/>
          <p:nvPr/>
        </p:nvSpPr>
        <p:spPr>
          <a:xfrm>
            <a:off x="4489704" y="4700016"/>
            <a:ext cx="3236976" cy="457200"/>
          </a:xfrm>
          <a:prstGeom prst="rect">
            <a:avLst/>
          </a:prstGeom>
          <a:noFill/>
          <a:ln/>
        </p:spPr>
        <p:txBody>
          <a:bodyPr wrap="square" lIns="0" tIns="0" rIns="0" bIns="0" rtlCol="0" anchor="ctr"/>
          <a:lstStyle/>
          <a:p>
            <a:pPr marL="0" indent="0">
              <a:lnSpc>
                <a:spcPct val="95000"/>
              </a:lnSpc>
              <a:buNone/>
            </a:pPr>
            <a:r>
              <a:rPr lang="en-US" sz="1000" i="1" dirty="0">
                <a:solidFill>
                  <a:srgbClr val="8A93A8"/>
                </a:solidFill>
                <a:latin typeface="Calibri" pitchFamily="34" charset="0"/>
                <a:ea typeface="Calibri" pitchFamily="34" charset="-122"/>
                <a:cs typeface="Calibri" pitchFamily="34" charset="-120"/>
              </a:rPr>
              <a:t>How does the customer feel?</a:t>
            </a:r>
          </a:p>
          <a:p>
            <a:pPr>
              <a:lnSpc>
                <a:spcPct val="95000"/>
              </a:lnSpc>
            </a:pPr>
            <a:r>
              <a:rPr lang="en-IN" sz="1000" dirty="0">
                <a:latin typeface="Times New Roman" panose="02020603050405020304" pitchFamily="18" charset="0"/>
                <a:cs typeface="Times New Roman" panose="02020603050405020304" pitchFamily="18" charset="0"/>
              </a:rPr>
              <a:t>Fear of accidents and collisions Anxiety while travelling alone Lack of confidence Frustration due to dependence on others Feeling socially restricted Desire for independence and dignity</a:t>
            </a:r>
            <a:endParaRPr lang="en-US" sz="1000" dirty="0">
              <a:latin typeface="Times New Roman" panose="02020603050405020304" pitchFamily="18" charset="0"/>
              <a:cs typeface="Times New Roman" panose="02020603050405020304" pitchFamily="18" charset="0"/>
            </a:endParaRPr>
          </a:p>
        </p:txBody>
      </p:sp>
      <p:sp>
        <p:nvSpPr>
          <p:cNvPr id="23" name="Text 19"/>
          <p:cNvSpPr/>
          <p:nvPr/>
        </p:nvSpPr>
        <p:spPr>
          <a:xfrm>
            <a:off x="4489704" y="5230368"/>
            <a:ext cx="3236976" cy="274320"/>
          </a:xfrm>
          <a:prstGeom prst="rect">
            <a:avLst/>
          </a:prstGeom>
          <a:noFill/>
          <a:ln/>
        </p:spPr>
        <p:txBody>
          <a:bodyPr wrap="square" lIns="0" tIns="0" rIns="0" bIns="0" rtlCol="0" anchor="ctr"/>
          <a:lstStyle/>
          <a:p>
            <a:pPr marL="0" indent="0">
              <a:buNone/>
            </a:pPr>
            <a:r>
              <a:rPr lang="en-US" sz="1150" b="1" dirty="0">
                <a:solidFill>
                  <a:srgbClr val="1C52C2"/>
                </a:solidFill>
                <a:latin typeface="Calibri" pitchFamily="34" charset="0"/>
                <a:ea typeface="Calibri" pitchFamily="34" charset="-122"/>
                <a:cs typeface="Calibri" pitchFamily="34" charset="-120"/>
              </a:rPr>
              <a:t>QUANTIFIABLE IMPACT</a:t>
            </a:r>
            <a:endParaRPr lang="en-US" sz="1150" dirty="0"/>
          </a:p>
        </p:txBody>
      </p:sp>
      <p:sp>
        <p:nvSpPr>
          <p:cNvPr id="24" name="Text 20"/>
          <p:cNvSpPr/>
          <p:nvPr/>
        </p:nvSpPr>
        <p:spPr>
          <a:xfrm>
            <a:off x="4471416" y="5577840"/>
            <a:ext cx="3236976" cy="274320"/>
          </a:xfrm>
          <a:prstGeom prst="rect">
            <a:avLst/>
          </a:prstGeom>
          <a:noFill/>
          <a:ln/>
        </p:spPr>
        <p:txBody>
          <a:bodyPr wrap="square" lIns="0" tIns="0" rIns="0" bIns="0" rtlCol="0" anchor="ctr"/>
          <a:lstStyle/>
          <a:p>
            <a:pPr marL="0" indent="0">
              <a:buNone/>
            </a:pPr>
            <a:r>
              <a:rPr lang="en-US" sz="1000" i="1" dirty="0">
                <a:solidFill>
                  <a:srgbClr val="8A93A8"/>
                </a:solidFill>
                <a:latin typeface="Calibri" pitchFamily="34" charset="0"/>
                <a:ea typeface="Calibri" pitchFamily="34" charset="-122"/>
                <a:cs typeface="Calibri" pitchFamily="34" charset="-120"/>
              </a:rPr>
              <a:t>Measurable impact (include units)?</a:t>
            </a:r>
          </a:p>
          <a:p>
            <a:r>
              <a:rPr lang="en-IN" sz="1000" dirty="0">
                <a:latin typeface="Times New Roman" panose="02020603050405020304" pitchFamily="18" charset="0"/>
                <a:cs typeface="Times New Roman" panose="02020603050405020304" pitchFamily="18" charset="0"/>
              </a:rPr>
              <a:t>Longer travel time, frequent need for assistance, and increased risk of accidents while navigating independently.</a:t>
            </a:r>
            <a:endParaRPr lang="en-US" sz="1000" dirty="0">
              <a:latin typeface="Times New Roman" panose="02020603050405020304" pitchFamily="18" charset="0"/>
              <a:cs typeface="Times New Roman" panose="02020603050405020304" pitchFamily="18" charset="0"/>
            </a:endParaRPr>
          </a:p>
        </p:txBody>
      </p:sp>
      <p:sp>
        <p:nvSpPr>
          <p:cNvPr id="25" name="Shape 21"/>
          <p:cNvSpPr/>
          <p:nvPr/>
        </p:nvSpPr>
        <p:spPr>
          <a:xfrm>
            <a:off x="8074152" y="424281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6" name="Text 22"/>
          <p:cNvSpPr/>
          <p:nvPr/>
        </p:nvSpPr>
        <p:spPr>
          <a:xfrm>
            <a:off x="8275320" y="4389120"/>
            <a:ext cx="3236976" cy="310896"/>
          </a:xfrm>
          <a:prstGeom prst="rect">
            <a:avLst/>
          </a:prstGeom>
          <a:noFill/>
          <a:ln/>
        </p:spPr>
        <p:txBody>
          <a:bodyPr wrap="square" lIns="0" tIns="0" rIns="0" bIns="0" rtlCol="0" anchor="ctr"/>
          <a:lstStyle/>
          <a:p>
            <a:pPr marL="0" indent="0">
              <a:buNone/>
            </a:pPr>
            <a:r>
              <a:rPr lang="en-US" sz="1350" b="1" dirty="0">
                <a:solidFill>
                  <a:srgbClr val="1C52C2"/>
                </a:solidFill>
                <a:latin typeface="Calibri" pitchFamily="34" charset="0"/>
                <a:ea typeface="Calibri" pitchFamily="34" charset="-122"/>
                <a:cs typeface="Calibri" pitchFamily="34" charset="-120"/>
              </a:rPr>
              <a:t>ALTERNATIVE SHORTCOMINGS</a:t>
            </a:r>
            <a:endParaRPr lang="en-US" sz="1350" dirty="0"/>
          </a:p>
        </p:txBody>
      </p:sp>
      <p:sp>
        <p:nvSpPr>
          <p:cNvPr id="27" name="Text 23"/>
          <p:cNvSpPr/>
          <p:nvPr/>
        </p:nvSpPr>
        <p:spPr>
          <a:xfrm>
            <a:off x="8275320" y="5222906"/>
            <a:ext cx="3236976" cy="457200"/>
          </a:xfrm>
          <a:prstGeom prst="rect">
            <a:avLst/>
          </a:prstGeom>
          <a:noFill/>
          <a:ln/>
        </p:spPr>
        <p:txBody>
          <a:bodyPr wrap="square" lIns="0" tIns="0" rIns="0" bIns="0" rtlCol="0" anchor="ctr"/>
          <a:lstStyle/>
          <a:p>
            <a:pPr marL="0" indent="0">
              <a:lnSpc>
                <a:spcPct val="95000"/>
              </a:lnSpc>
              <a:buNone/>
            </a:pPr>
            <a:r>
              <a:rPr lang="en-US" sz="1000" i="1" dirty="0">
                <a:solidFill>
                  <a:srgbClr val="8A93A8"/>
                </a:solidFill>
                <a:latin typeface="Calibri" pitchFamily="34" charset="0"/>
                <a:ea typeface="Calibri" pitchFamily="34" charset="-122"/>
                <a:cs typeface="Calibri" pitchFamily="34" charset="-120"/>
              </a:rPr>
              <a:t>What are the disadvantages of the alternatives?</a:t>
            </a:r>
          </a:p>
          <a:p>
            <a:pPr>
              <a:lnSpc>
                <a:spcPct val="95000"/>
              </a:lnSpc>
            </a:pPr>
            <a:r>
              <a:rPr lang="en-IN" sz="1000" b="1" dirty="0"/>
              <a:t>White cane:</a:t>
            </a:r>
            <a:r>
              <a:rPr lang="en-IN" sz="1000" dirty="0"/>
              <a:t> Detects only ground-level obstacles; cannot identify objects, people, or moving vehicles. </a:t>
            </a:r>
          </a:p>
          <a:p>
            <a:pPr>
              <a:lnSpc>
                <a:spcPct val="95000"/>
              </a:lnSpc>
            </a:pPr>
            <a:r>
              <a:rPr lang="en-IN" sz="1000" b="1" dirty="0"/>
              <a:t>Guide dog:</a:t>
            </a:r>
            <a:r>
              <a:rPr lang="en-IN" sz="1000" dirty="0"/>
              <a:t> Expensive to train and maintain; not accessible to everyone. </a:t>
            </a:r>
          </a:p>
          <a:p>
            <a:pPr>
              <a:lnSpc>
                <a:spcPct val="95000"/>
              </a:lnSpc>
            </a:pPr>
            <a:r>
              <a:rPr lang="en-IN" sz="1000" b="1" dirty="0"/>
              <a:t>Human assistance:</a:t>
            </a:r>
            <a:r>
              <a:rPr lang="en-IN" sz="1000" dirty="0"/>
              <a:t> Not always available and reduces independence. </a:t>
            </a:r>
          </a:p>
          <a:p>
            <a:pPr>
              <a:lnSpc>
                <a:spcPct val="95000"/>
              </a:lnSpc>
            </a:pPr>
            <a:r>
              <a:rPr lang="en-IN" sz="1000" b="1" dirty="0"/>
              <a:t>Smartphone apps:</a:t>
            </a:r>
            <a:r>
              <a:rPr lang="en-IN" sz="1000" dirty="0"/>
              <a:t> Require manual interaction and do not provide continuous real-time environmental awareness. </a:t>
            </a:r>
          </a:p>
          <a:p>
            <a:pPr>
              <a:lnSpc>
                <a:spcPct val="95000"/>
              </a:lnSpc>
            </a:pPr>
            <a:r>
              <a:rPr lang="en-IN" sz="1000" b="1" dirty="0"/>
              <a:t>Route memory:</a:t>
            </a:r>
            <a:r>
              <a:rPr lang="en-IN" sz="1000" dirty="0"/>
              <a:t> Works only in familiar places and is ineffective in changing environments.</a:t>
            </a:r>
            <a:endParaRPr lang="en-US" sz="1000" dirty="0"/>
          </a:p>
        </p:txBody>
      </p:sp>
      <p:sp>
        <p:nvSpPr>
          <p:cNvPr id="28" name="Shape 24"/>
          <p:cNvSpPr/>
          <p:nvPr/>
        </p:nvSpPr>
        <p:spPr>
          <a:xfrm>
            <a:off x="338328" y="6320186"/>
            <a:ext cx="11183112" cy="457200"/>
          </a:xfrm>
          <a:prstGeom prst="roundRect">
            <a:avLst>
              <a:gd name="adj" fmla="val 20000"/>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sp>
        <p:nvSpPr>
          <p:cNvPr id="29" name="Text 25"/>
          <p:cNvSpPr/>
          <p:nvPr/>
        </p:nvSpPr>
        <p:spPr>
          <a:xfrm>
            <a:off x="670560" y="6320186"/>
            <a:ext cx="10607040" cy="457200"/>
          </a:xfrm>
          <a:prstGeom prst="rect">
            <a:avLst/>
          </a:prstGeom>
          <a:noFill/>
          <a:ln/>
        </p:spPr>
        <p:txBody>
          <a:bodyPr wrap="square" lIns="0" tIns="0" rIns="0" bIns="0" rtlCol="0" anchor="ctr"/>
          <a:lstStyle/>
          <a:p>
            <a:pPr marL="0" indent="0">
              <a:buNone/>
            </a:pPr>
            <a:r>
              <a:rPr lang="en-US" sz="1250" b="1" dirty="0">
                <a:solidFill>
                  <a:srgbClr val="B5891E"/>
                </a:solidFill>
                <a:latin typeface="Calibri" pitchFamily="34" charset="0"/>
                <a:ea typeface="Calibri" pitchFamily="34" charset="-122"/>
                <a:cs typeface="Calibri" pitchFamily="34" charset="-120"/>
              </a:rPr>
              <a:t>▶  </a:t>
            </a:r>
            <a:r>
              <a:rPr lang="en-US" sz="1250" b="1" dirty="0">
                <a:solidFill>
                  <a:srgbClr val="7A5E16"/>
                </a:solidFill>
                <a:latin typeface="Calibri" pitchFamily="34" charset="0"/>
                <a:ea typeface="Calibri" pitchFamily="34" charset="-122"/>
                <a:cs typeface="Calibri" pitchFamily="34" charset="-120"/>
              </a:rPr>
              <a:t>Present your completed Problem Statement Canvas to your reviewers.</a:t>
            </a:r>
            <a:endParaRPr lang="en-US" sz="1250" dirty="0"/>
          </a:p>
        </p:txBody>
      </p:sp>
      <p:pic>
        <p:nvPicPr>
          <p:cNvPr id="31" name="Picture 30">
            <a:extLst>
              <a:ext uri="{FF2B5EF4-FFF2-40B4-BE49-F238E27FC236}">
                <a16:creationId xmlns:a16="http://schemas.microsoft.com/office/drawing/2014/main" id="{98F2F3BC-1671-CF6C-C187-264C18E21B47}"/>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dirty="0">
                <a:solidFill>
                  <a:srgbClr val="071A45"/>
                </a:solidFill>
                <a:latin typeface="Calibri" pitchFamily="34" charset="0"/>
                <a:ea typeface="Calibri" pitchFamily="34" charset="-122"/>
                <a:cs typeface="Calibri" pitchFamily="34" charset="-120"/>
              </a:rPr>
              <a:t>Our Problem Statement</a:t>
            </a:r>
            <a:endParaRPr lang="en-US" sz="2900" dirty="0"/>
          </a:p>
        </p:txBody>
      </p:sp>
      <p:sp>
        <p:nvSpPr>
          <p:cNvPr id="5" name="Shape 1"/>
          <p:cNvSpPr/>
          <p:nvPr/>
        </p:nvSpPr>
        <p:spPr>
          <a:xfrm>
            <a:off x="640080" y="1828800"/>
            <a:ext cx="10908792" cy="1965960"/>
          </a:xfrm>
          <a:prstGeom prst="roundRect">
            <a:avLst>
              <a:gd name="adj" fmla="val 4651"/>
            </a:avLst>
          </a:prstGeom>
          <a:solidFill>
            <a:srgbClr val="071A45"/>
          </a:solidFill>
          <a:ln/>
          <a:effectLst>
            <a:outerShdw blurRad="88900" dist="38100" dir="5400000" algn="bl" rotWithShape="0">
              <a:srgbClr val="071A45">
                <a:alpha val="12000"/>
              </a:srgbClr>
            </a:outerShdw>
          </a:effectLst>
        </p:spPr>
      </p:sp>
      <p:sp>
        <p:nvSpPr>
          <p:cNvPr id="6" name="Text 2"/>
          <p:cNvSpPr/>
          <p:nvPr/>
        </p:nvSpPr>
        <p:spPr>
          <a:xfrm>
            <a:off x="960120" y="2084832"/>
            <a:ext cx="9144000" cy="320040"/>
          </a:xfrm>
          <a:prstGeom prst="rect">
            <a:avLst/>
          </a:prstGeom>
          <a:noFill/>
          <a:ln/>
        </p:spPr>
        <p:txBody>
          <a:bodyPr wrap="square" lIns="0" tIns="0" rIns="0" bIns="0" rtlCol="0" anchor="ctr"/>
          <a:lstStyle/>
          <a:p>
            <a:pPr marL="0" indent="0">
              <a:buNone/>
            </a:pPr>
            <a:r>
              <a:rPr lang="en-US" sz="1300" b="1" kern="0" spc="200" dirty="0">
                <a:solidFill>
                  <a:srgbClr val="FFC01E"/>
                </a:solidFill>
                <a:latin typeface="Calibri" pitchFamily="34" charset="0"/>
                <a:ea typeface="Calibri" pitchFamily="34" charset="-122"/>
                <a:cs typeface="Calibri" pitchFamily="34" charset="-120"/>
              </a:rPr>
              <a:t>FINAL PROBLEM STATEMENT</a:t>
            </a:r>
            <a:endParaRPr lang="en-US" sz="1300" dirty="0"/>
          </a:p>
        </p:txBody>
      </p:sp>
      <p:sp>
        <p:nvSpPr>
          <p:cNvPr id="7" name="Text 3"/>
          <p:cNvSpPr/>
          <p:nvPr/>
        </p:nvSpPr>
        <p:spPr>
          <a:xfrm>
            <a:off x="960120" y="2514600"/>
            <a:ext cx="10241280" cy="1143000"/>
          </a:xfrm>
          <a:prstGeom prst="rect">
            <a:avLst/>
          </a:prstGeom>
          <a:noFill/>
          <a:ln/>
        </p:spPr>
        <p:txBody>
          <a:bodyPr wrap="square" lIns="0" tIns="0" rIns="0" bIns="0" rtlCol="0" anchor="ctr"/>
          <a:lstStyle/>
          <a:p>
            <a:pPr marL="0" indent="0">
              <a:lnSpc>
                <a:spcPct val="105000"/>
              </a:lnSpc>
              <a:buNone/>
            </a:pPr>
            <a:r>
              <a:rPr lang="en-US" sz="2600" b="1">
                <a:solidFill>
                  <a:srgbClr val="FFCE4D"/>
                </a:solidFill>
                <a:latin typeface="Calibri" pitchFamily="34" charset="0"/>
                <a:ea typeface="Calibri" pitchFamily="34" charset="-122"/>
                <a:cs typeface="Calibri" pitchFamily="34" charset="-120"/>
              </a:rPr>
              <a:t>Visually </a:t>
            </a:r>
            <a:r>
              <a:rPr lang="en-US" sz="2600" b="1" dirty="0">
                <a:solidFill>
                  <a:srgbClr val="FFCE4D"/>
                </a:solidFill>
                <a:latin typeface="Calibri" pitchFamily="34" charset="0"/>
                <a:ea typeface="Calibri" pitchFamily="34" charset="-122"/>
                <a:cs typeface="Calibri" pitchFamily="34" charset="-120"/>
              </a:rPr>
              <a:t>impaired individuals need a way to navigate safely because existing mobility aids cannot provide complete awareness of </a:t>
            </a:r>
            <a:r>
              <a:rPr lang="en-US" sz="2600" b="1">
                <a:solidFill>
                  <a:srgbClr val="FFCE4D"/>
                </a:solidFill>
                <a:latin typeface="Calibri" pitchFamily="34" charset="0"/>
                <a:ea typeface="Calibri" pitchFamily="34" charset="-122"/>
                <a:cs typeface="Calibri" pitchFamily="34" charset="-120"/>
              </a:rPr>
              <a:t>their surroundings</a:t>
            </a:r>
            <a:r>
              <a:rPr lang="en-US" sz="2600" b="1">
                <a:solidFill>
                  <a:srgbClr val="FFFFFF"/>
                </a:solidFill>
                <a:latin typeface="Calibri" pitchFamily="34" charset="0"/>
                <a:ea typeface="Calibri" pitchFamily="34" charset="-122"/>
                <a:cs typeface="Calibri" pitchFamily="34" charset="-120"/>
              </a:rPr>
              <a:t>.</a:t>
            </a:r>
            <a:endParaRPr lang="en-US" sz="2600" dirty="0"/>
          </a:p>
        </p:txBody>
      </p:sp>
      <p:sp>
        <p:nvSpPr>
          <p:cNvPr id="8" name="Shape 4"/>
          <p:cNvSpPr/>
          <p:nvPr/>
        </p:nvSpPr>
        <p:spPr>
          <a:xfrm>
            <a:off x="626364" y="4071497"/>
            <a:ext cx="10908792" cy="1920240"/>
          </a:xfrm>
          <a:prstGeom prst="roundRect">
            <a:avLst>
              <a:gd name="adj" fmla="val 4762"/>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pic>
        <p:nvPicPr>
          <p:cNvPr id="9" name="Image 2" descr="preencoded.png"/>
          <p:cNvPicPr>
            <a:picLocks noChangeAspect="1"/>
          </p:cNvPicPr>
          <p:nvPr/>
        </p:nvPicPr>
        <p:blipFill>
          <a:blip r:embed="rId4"/>
          <a:stretch>
            <a:fillRect/>
          </a:stretch>
        </p:blipFill>
        <p:spPr>
          <a:xfrm>
            <a:off x="932688" y="4279392"/>
            <a:ext cx="384048" cy="384048"/>
          </a:xfrm>
          <a:prstGeom prst="rect">
            <a:avLst/>
          </a:prstGeom>
        </p:spPr>
      </p:pic>
      <p:sp>
        <p:nvSpPr>
          <p:cNvPr id="10" name="Text 5"/>
          <p:cNvSpPr/>
          <p:nvPr/>
        </p:nvSpPr>
        <p:spPr>
          <a:xfrm>
            <a:off x="1444752" y="4261104"/>
            <a:ext cx="9875520" cy="365760"/>
          </a:xfrm>
          <a:prstGeom prst="rect">
            <a:avLst/>
          </a:prstGeom>
          <a:noFill/>
          <a:ln/>
        </p:spPr>
        <p:txBody>
          <a:bodyPr wrap="square" lIns="0" tIns="0" rIns="0" bIns="0" rtlCol="0" anchor="ctr"/>
          <a:lstStyle/>
          <a:p>
            <a:pPr marL="0" indent="0">
              <a:buNone/>
            </a:pPr>
            <a:r>
              <a:rPr lang="en-US" sz="1400" b="1" dirty="0">
                <a:solidFill>
                  <a:srgbClr val="9A6B12"/>
                </a:solidFill>
                <a:latin typeface="Calibri" pitchFamily="34" charset="0"/>
                <a:ea typeface="Calibri" pitchFamily="34" charset="-122"/>
                <a:cs typeface="Calibri" pitchFamily="34" charset="-120"/>
              </a:rPr>
              <a:t>HOW MIGHT WE (HMW)  —  turn the problem into an opportunity</a:t>
            </a:r>
            <a:endParaRPr lang="en-US" sz="1400" dirty="0"/>
          </a:p>
        </p:txBody>
      </p:sp>
      <p:sp>
        <p:nvSpPr>
          <p:cNvPr id="11" name="Text 6"/>
          <p:cNvSpPr/>
          <p:nvPr/>
        </p:nvSpPr>
        <p:spPr>
          <a:xfrm>
            <a:off x="960120" y="4800600"/>
            <a:ext cx="10241280" cy="1005840"/>
          </a:xfrm>
          <a:prstGeom prst="rect">
            <a:avLst/>
          </a:prstGeom>
          <a:noFill/>
          <a:ln/>
        </p:spPr>
        <p:txBody>
          <a:bodyPr wrap="square" lIns="0" tIns="0" rIns="0" bIns="0" rtlCol="0" anchor="ctr"/>
          <a:lstStyle/>
          <a:p>
            <a:pPr>
              <a:lnSpc>
                <a:spcPct val="105000"/>
              </a:lnSpc>
            </a:pPr>
            <a:r>
              <a:rPr lang="en-IN" sz="2400" dirty="0">
                <a:latin typeface="Times New Roman" panose="02020603050405020304" pitchFamily="18" charset="0"/>
                <a:cs typeface="Times New Roman" panose="02020603050405020304" pitchFamily="18" charset="0"/>
              </a:rPr>
              <a:t>How might we help visually impaired individuals understand their surroundings in real time so they can travel independently and confidently.</a:t>
            </a:r>
            <a:endParaRPr lang="en-US" sz="2100" dirty="0">
              <a:latin typeface="Times New Roman" panose="02020603050405020304" pitchFamily="18" charset="0"/>
              <a:cs typeface="Times New Roman" panose="02020603050405020304" pitchFamily="18" charset="0"/>
            </a:endParaRPr>
          </a:p>
        </p:txBody>
      </p:sp>
      <p:sp>
        <p:nvSpPr>
          <p:cNvPr id="12" name="Text 7"/>
          <p:cNvSpPr/>
          <p:nvPr/>
        </p:nvSpPr>
        <p:spPr>
          <a:xfrm>
            <a:off x="502920" y="6455664"/>
            <a:ext cx="8229600" cy="274320"/>
          </a:xfrm>
          <a:prstGeom prst="rect">
            <a:avLst/>
          </a:prstGeom>
          <a:noFill/>
          <a:ln/>
        </p:spPr>
        <p:txBody>
          <a:bodyPr wrap="square" lIns="0" tIns="0" rIns="0" bIns="0" rtlCol="0" anchor="ctr"/>
          <a:lstStyle/>
          <a:p>
            <a:pPr marL="0" indent="0">
              <a:buNone/>
            </a:pPr>
            <a:r>
              <a:rPr lang="en-US" sz="900" dirty="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dirty="0"/>
          </a:p>
        </p:txBody>
      </p:sp>
      <p:pic>
        <p:nvPicPr>
          <p:cNvPr id="14" name="Picture 13">
            <a:extLst>
              <a:ext uri="{FF2B5EF4-FFF2-40B4-BE49-F238E27FC236}">
                <a16:creationId xmlns:a16="http://schemas.microsoft.com/office/drawing/2014/main" id="{39BC0592-4B1B-5A95-2F3E-13C3A5A660F2}"/>
              </a:ext>
            </a:extLst>
          </p:cNvPr>
          <p:cNvPicPr>
            <a:picLocks noChangeAspect="1"/>
          </p:cNvPicPr>
          <p:nvPr/>
        </p:nvPicPr>
        <p:blipFill>
          <a:blip r:embed="rId5"/>
          <a:stretch>
            <a:fillRect/>
          </a:stretch>
        </p:blipFill>
        <p:spPr>
          <a:xfrm>
            <a:off x="10363654" y="371776"/>
            <a:ext cx="1325426" cy="6035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dirty="0">
                <a:solidFill>
                  <a:srgbClr val="071A45"/>
                </a:solidFill>
                <a:latin typeface="Calibri" pitchFamily="34" charset="0"/>
                <a:ea typeface="Calibri" pitchFamily="34" charset="-122"/>
                <a:cs typeface="Calibri" pitchFamily="34" charset="-120"/>
              </a:rPr>
              <a:t>Mapping to the UN SDGs</a:t>
            </a:r>
            <a:endParaRPr lang="en-US" sz="2900" dirty="0"/>
          </a:p>
        </p:txBody>
      </p:sp>
      <p:sp>
        <p:nvSpPr>
          <p:cNvPr id="5" name="Text 1"/>
          <p:cNvSpPr/>
          <p:nvPr/>
        </p:nvSpPr>
        <p:spPr>
          <a:xfrm>
            <a:off x="502920" y="1481328"/>
            <a:ext cx="11155680" cy="365760"/>
          </a:xfrm>
          <a:prstGeom prst="rect">
            <a:avLst/>
          </a:prstGeom>
          <a:noFill/>
          <a:ln/>
        </p:spPr>
        <p:txBody>
          <a:bodyPr wrap="square" lIns="0" tIns="0" rIns="0" bIns="0" rtlCol="0" anchor="ctr"/>
          <a:lstStyle/>
          <a:p>
            <a:pPr marL="0" indent="0">
              <a:buNone/>
            </a:pPr>
            <a:r>
              <a:rPr lang="en-US" sz="1400" dirty="0">
                <a:solidFill>
                  <a:srgbClr val="5B6685"/>
                </a:solidFill>
                <a:latin typeface="Calibri" pitchFamily="34" charset="0"/>
                <a:ea typeface="Calibri" pitchFamily="34" charset="-122"/>
                <a:cs typeface="Calibri" pitchFamily="34" charset="-120"/>
              </a:rPr>
              <a:t>Which UN Sustainable Development Goal(s) does solving your problem help advance?</a:t>
            </a:r>
            <a:endParaRPr lang="en-US" sz="1400" dirty="0"/>
          </a:p>
        </p:txBody>
      </p:sp>
      <p:sp>
        <p:nvSpPr>
          <p:cNvPr id="6" name="Shape 2"/>
          <p:cNvSpPr/>
          <p:nvPr/>
        </p:nvSpPr>
        <p:spPr>
          <a:xfrm>
            <a:off x="640080" y="1965960"/>
            <a:ext cx="1792224" cy="841248"/>
          </a:xfrm>
          <a:prstGeom prst="roundRect">
            <a:avLst>
              <a:gd name="adj" fmla="val 5435"/>
            </a:avLst>
          </a:prstGeom>
          <a:solidFill>
            <a:srgbClr val="E5243B"/>
          </a:solidFill>
          <a:ln/>
        </p:spPr>
      </p:sp>
      <p:sp>
        <p:nvSpPr>
          <p:cNvPr id="7" name="Text 3"/>
          <p:cNvSpPr/>
          <p:nvPr/>
        </p:nvSpPr>
        <p:spPr>
          <a:xfrm>
            <a:off x="749808" y="2057400"/>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4"/>
          <p:cNvSpPr/>
          <p:nvPr/>
        </p:nvSpPr>
        <p:spPr>
          <a:xfrm>
            <a:off x="749808" y="2386584"/>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No Poverty</a:t>
            </a:r>
            <a:endParaRPr lang="en-US" sz="950" dirty="0"/>
          </a:p>
        </p:txBody>
      </p:sp>
      <p:sp>
        <p:nvSpPr>
          <p:cNvPr id="9" name="Shape 5"/>
          <p:cNvSpPr/>
          <p:nvPr/>
        </p:nvSpPr>
        <p:spPr>
          <a:xfrm>
            <a:off x="2496312" y="1965960"/>
            <a:ext cx="1792224" cy="841248"/>
          </a:xfrm>
          <a:prstGeom prst="roundRect">
            <a:avLst>
              <a:gd name="adj" fmla="val 5435"/>
            </a:avLst>
          </a:prstGeom>
          <a:solidFill>
            <a:srgbClr val="DDA63A"/>
          </a:solidFill>
          <a:ln/>
        </p:spPr>
      </p:sp>
      <p:sp>
        <p:nvSpPr>
          <p:cNvPr id="10" name="Text 6"/>
          <p:cNvSpPr/>
          <p:nvPr/>
        </p:nvSpPr>
        <p:spPr>
          <a:xfrm>
            <a:off x="2606040" y="2057400"/>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7"/>
          <p:cNvSpPr/>
          <p:nvPr/>
        </p:nvSpPr>
        <p:spPr>
          <a:xfrm>
            <a:off x="2606040" y="2386584"/>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Zero Hunger</a:t>
            </a:r>
            <a:endParaRPr lang="en-US" sz="950" dirty="0"/>
          </a:p>
        </p:txBody>
      </p:sp>
      <p:sp>
        <p:nvSpPr>
          <p:cNvPr id="12" name="Shape 8"/>
          <p:cNvSpPr/>
          <p:nvPr/>
        </p:nvSpPr>
        <p:spPr>
          <a:xfrm>
            <a:off x="4352544" y="1965960"/>
            <a:ext cx="1792224" cy="841248"/>
          </a:xfrm>
          <a:prstGeom prst="roundRect">
            <a:avLst>
              <a:gd name="adj" fmla="val 5435"/>
            </a:avLst>
          </a:prstGeom>
          <a:solidFill>
            <a:srgbClr val="4C9F38"/>
          </a:solidFill>
          <a:ln/>
        </p:spPr>
      </p:sp>
      <p:sp>
        <p:nvSpPr>
          <p:cNvPr id="13" name="Text 9"/>
          <p:cNvSpPr/>
          <p:nvPr/>
        </p:nvSpPr>
        <p:spPr>
          <a:xfrm>
            <a:off x="4462272" y="2057400"/>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0"/>
          <p:cNvSpPr/>
          <p:nvPr/>
        </p:nvSpPr>
        <p:spPr>
          <a:xfrm>
            <a:off x="4462272" y="2386584"/>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Good Health</a:t>
            </a:r>
            <a:endParaRPr lang="en-US" sz="950" dirty="0"/>
          </a:p>
        </p:txBody>
      </p:sp>
      <p:sp>
        <p:nvSpPr>
          <p:cNvPr id="15" name="Shape 11"/>
          <p:cNvSpPr/>
          <p:nvPr/>
        </p:nvSpPr>
        <p:spPr>
          <a:xfrm>
            <a:off x="6208776" y="1965960"/>
            <a:ext cx="1792224" cy="841248"/>
          </a:xfrm>
          <a:prstGeom prst="roundRect">
            <a:avLst>
              <a:gd name="adj" fmla="val 5435"/>
            </a:avLst>
          </a:prstGeom>
          <a:solidFill>
            <a:srgbClr val="C5192D"/>
          </a:solidFill>
          <a:ln/>
        </p:spPr>
      </p:sp>
      <p:sp>
        <p:nvSpPr>
          <p:cNvPr id="16" name="Text 12"/>
          <p:cNvSpPr/>
          <p:nvPr/>
        </p:nvSpPr>
        <p:spPr>
          <a:xfrm>
            <a:off x="6318504" y="2057400"/>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Text 13"/>
          <p:cNvSpPr/>
          <p:nvPr/>
        </p:nvSpPr>
        <p:spPr>
          <a:xfrm>
            <a:off x="6318504" y="2386584"/>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Quality Education</a:t>
            </a:r>
            <a:endParaRPr lang="en-US" sz="950" dirty="0"/>
          </a:p>
        </p:txBody>
      </p:sp>
      <p:sp>
        <p:nvSpPr>
          <p:cNvPr id="18" name="Shape 14"/>
          <p:cNvSpPr/>
          <p:nvPr/>
        </p:nvSpPr>
        <p:spPr>
          <a:xfrm>
            <a:off x="8065008" y="1965960"/>
            <a:ext cx="1792224" cy="841248"/>
          </a:xfrm>
          <a:prstGeom prst="roundRect">
            <a:avLst>
              <a:gd name="adj" fmla="val 5435"/>
            </a:avLst>
          </a:prstGeom>
          <a:solidFill>
            <a:srgbClr val="FF3A21"/>
          </a:solidFill>
          <a:ln/>
        </p:spPr>
      </p:sp>
      <p:sp>
        <p:nvSpPr>
          <p:cNvPr id="19" name="Text 15"/>
          <p:cNvSpPr/>
          <p:nvPr/>
        </p:nvSpPr>
        <p:spPr>
          <a:xfrm>
            <a:off x="8174736" y="2057400"/>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0" name="Text 16"/>
          <p:cNvSpPr/>
          <p:nvPr/>
        </p:nvSpPr>
        <p:spPr>
          <a:xfrm>
            <a:off x="8174736" y="2386584"/>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Gender Equality</a:t>
            </a:r>
            <a:endParaRPr lang="en-US" sz="950" dirty="0"/>
          </a:p>
        </p:txBody>
      </p:sp>
      <p:sp>
        <p:nvSpPr>
          <p:cNvPr id="21" name="Shape 17"/>
          <p:cNvSpPr/>
          <p:nvPr/>
        </p:nvSpPr>
        <p:spPr>
          <a:xfrm>
            <a:off x="9921240" y="1965960"/>
            <a:ext cx="1792224" cy="841248"/>
          </a:xfrm>
          <a:prstGeom prst="roundRect">
            <a:avLst>
              <a:gd name="adj" fmla="val 5435"/>
            </a:avLst>
          </a:prstGeom>
          <a:solidFill>
            <a:srgbClr val="26BDE2"/>
          </a:solidFill>
          <a:ln/>
        </p:spPr>
      </p:sp>
      <p:sp>
        <p:nvSpPr>
          <p:cNvPr id="22" name="Text 18"/>
          <p:cNvSpPr/>
          <p:nvPr/>
        </p:nvSpPr>
        <p:spPr>
          <a:xfrm>
            <a:off x="10030968" y="2057400"/>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3" name="Text 19"/>
          <p:cNvSpPr/>
          <p:nvPr/>
        </p:nvSpPr>
        <p:spPr>
          <a:xfrm>
            <a:off x="10030968" y="2386584"/>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Clean Water</a:t>
            </a:r>
            <a:endParaRPr lang="en-US" sz="950" dirty="0"/>
          </a:p>
        </p:txBody>
      </p:sp>
      <p:sp>
        <p:nvSpPr>
          <p:cNvPr id="24" name="Shape 20"/>
          <p:cNvSpPr/>
          <p:nvPr/>
        </p:nvSpPr>
        <p:spPr>
          <a:xfrm>
            <a:off x="640080" y="2898648"/>
            <a:ext cx="1792224" cy="841248"/>
          </a:xfrm>
          <a:prstGeom prst="roundRect">
            <a:avLst>
              <a:gd name="adj" fmla="val 5435"/>
            </a:avLst>
          </a:prstGeom>
          <a:solidFill>
            <a:srgbClr val="FCC30B"/>
          </a:solidFill>
          <a:ln/>
        </p:spPr>
      </p:sp>
      <p:sp>
        <p:nvSpPr>
          <p:cNvPr id="25" name="Text 21"/>
          <p:cNvSpPr/>
          <p:nvPr/>
        </p:nvSpPr>
        <p:spPr>
          <a:xfrm>
            <a:off x="749808" y="2990088"/>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26" name="Text 22"/>
          <p:cNvSpPr/>
          <p:nvPr/>
        </p:nvSpPr>
        <p:spPr>
          <a:xfrm>
            <a:off x="749808" y="3319272"/>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Clean Energy</a:t>
            </a:r>
            <a:endParaRPr lang="en-US" sz="950" dirty="0"/>
          </a:p>
        </p:txBody>
      </p:sp>
      <p:sp>
        <p:nvSpPr>
          <p:cNvPr id="27" name="Shape 23"/>
          <p:cNvSpPr/>
          <p:nvPr/>
        </p:nvSpPr>
        <p:spPr>
          <a:xfrm>
            <a:off x="2496312" y="2898648"/>
            <a:ext cx="1792224" cy="841248"/>
          </a:xfrm>
          <a:prstGeom prst="roundRect">
            <a:avLst>
              <a:gd name="adj" fmla="val 5435"/>
            </a:avLst>
          </a:prstGeom>
          <a:solidFill>
            <a:srgbClr val="A21942"/>
          </a:solidFill>
          <a:ln/>
        </p:spPr>
      </p:sp>
      <p:sp>
        <p:nvSpPr>
          <p:cNvPr id="28" name="Text 24"/>
          <p:cNvSpPr/>
          <p:nvPr/>
        </p:nvSpPr>
        <p:spPr>
          <a:xfrm>
            <a:off x="2606040" y="2990088"/>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29" name="Text 25"/>
          <p:cNvSpPr/>
          <p:nvPr/>
        </p:nvSpPr>
        <p:spPr>
          <a:xfrm>
            <a:off x="2606040" y="3319272"/>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Decent Work</a:t>
            </a:r>
            <a:endParaRPr lang="en-US" sz="950" dirty="0"/>
          </a:p>
        </p:txBody>
      </p:sp>
      <p:sp>
        <p:nvSpPr>
          <p:cNvPr id="30" name="Shape 26"/>
          <p:cNvSpPr/>
          <p:nvPr/>
        </p:nvSpPr>
        <p:spPr>
          <a:xfrm>
            <a:off x="4352544" y="2898648"/>
            <a:ext cx="1792224" cy="841248"/>
          </a:xfrm>
          <a:prstGeom prst="roundRect">
            <a:avLst>
              <a:gd name="adj" fmla="val 5435"/>
            </a:avLst>
          </a:prstGeom>
          <a:solidFill>
            <a:srgbClr val="FD6925"/>
          </a:solidFill>
          <a:ln/>
        </p:spPr>
      </p:sp>
      <p:sp>
        <p:nvSpPr>
          <p:cNvPr id="31" name="Text 27"/>
          <p:cNvSpPr/>
          <p:nvPr/>
        </p:nvSpPr>
        <p:spPr>
          <a:xfrm>
            <a:off x="4462272" y="2990088"/>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32" name="Text 28"/>
          <p:cNvSpPr/>
          <p:nvPr/>
        </p:nvSpPr>
        <p:spPr>
          <a:xfrm>
            <a:off x="4462272" y="3319272"/>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Industry &amp; Innovation</a:t>
            </a:r>
            <a:endParaRPr lang="en-US" sz="950" dirty="0"/>
          </a:p>
        </p:txBody>
      </p:sp>
      <p:sp>
        <p:nvSpPr>
          <p:cNvPr id="33" name="Shape 29"/>
          <p:cNvSpPr/>
          <p:nvPr/>
        </p:nvSpPr>
        <p:spPr>
          <a:xfrm>
            <a:off x="6208776" y="2898648"/>
            <a:ext cx="1792224" cy="841248"/>
          </a:xfrm>
          <a:prstGeom prst="roundRect">
            <a:avLst>
              <a:gd name="adj" fmla="val 5435"/>
            </a:avLst>
          </a:prstGeom>
          <a:solidFill>
            <a:srgbClr val="DD1367"/>
          </a:solidFill>
          <a:ln/>
        </p:spPr>
      </p:sp>
      <p:sp>
        <p:nvSpPr>
          <p:cNvPr id="34" name="Text 30"/>
          <p:cNvSpPr/>
          <p:nvPr/>
        </p:nvSpPr>
        <p:spPr>
          <a:xfrm>
            <a:off x="6318504" y="2990088"/>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35" name="Text 31"/>
          <p:cNvSpPr/>
          <p:nvPr/>
        </p:nvSpPr>
        <p:spPr>
          <a:xfrm>
            <a:off x="6318504" y="3319272"/>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Reduced Inequalities</a:t>
            </a:r>
            <a:endParaRPr lang="en-US" sz="950" dirty="0"/>
          </a:p>
        </p:txBody>
      </p:sp>
      <p:sp>
        <p:nvSpPr>
          <p:cNvPr id="36" name="Shape 32"/>
          <p:cNvSpPr/>
          <p:nvPr/>
        </p:nvSpPr>
        <p:spPr>
          <a:xfrm>
            <a:off x="8065008" y="2898648"/>
            <a:ext cx="1792224" cy="841248"/>
          </a:xfrm>
          <a:prstGeom prst="roundRect">
            <a:avLst>
              <a:gd name="adj" fmla="val 5435"/>
            </a:avLst>
          </a:prstGeom>
          <a:solidFill>
            <a:srgbClr val="FD9D24"/>
          </a:solidFill>
          <a:ln/>
        </p:spPr>
      </p:sp>
      <p:sp>
        <p:nvSpPr>
          <p:cNvPr id="37" name="Text 33"/>
          <p:cNvSpPr/>
          <p:nvPr/>
        </p:nvSpPr>
        <p:spPr>
          <a:xfrm>
            <a:off x="8174736" y="2990088"/>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11</a:t>
            </a:r>
            <a:endParaRPr lang="en-US" sz="2000" dirty="0"/>
          </a:p>
        </p:txBody>
      </p:sp>
      <p:sp>
        <p:nvSpPr>
          <p:cNvPr id="38" name="Text 34"/>
          <p:cNvSpPr/>
          <p:nvPr/>
        </p:nvSpPr>
        <p:spPr>
          <a:xfrm>
            <a:off x="8174736" y="3319272"/>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Sustainable Cities</a:t>
            </a:r>
            <a:endParaRPr lang="en-US" sz="950" dirty="0"/>
          </a:p>
        </p:txBody>
      </p:sp>
      <p:sp>
        <p:nvSpPr>
          <p:cNvPr id="39" name="Shape 35"/>
          <p:cNvSpPr/>
          <p:nvPr/>
        </p:nvSpPr>
        <p:spPr>
          <a:xfrm>
            <a:off x="9921240" y="2898648"/>
            <a:ext cx="1792224" cy="841248"/>
          </a:xfrm>
          <a:prstGeom prst="roundRect">
            <a:avLst>
              <a:gd name="adj" fmla="val 5435"/>
            </a:avLst>
          </a:prstGeom>
          <a:solidFill>
            <a:srgbClr val="BF8B2E"/>
          </a:solidFill>
          <a:ln/>
        </p:spPr>
      </p:sp>
      <p:sp>
        <p:nvSpPr>
          <p:cNvPr id="40" name="Text 36"/>
          <p:cNvSpPr/>
          <p:nvPr/>
        </p:nvSpPr>
        <p:spPr>
          <a:xfrm>
            <a:off x="10030968" y="2990088"/>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41" name="Text 37"/>
          <p:cNvSpPr/>
          <p:nvPr/>
        </p:nvSpPr>
        <p:spPr>
          <a:xfrm>
            <a:off x="10030968" y="3319272"/>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Responsible Consumption</a:t>
            </a:r>
            <a:endParaRPr lang="en-US" sz="950" dirty="0"/>
          </a:p>
        </p:txBody>
      </p:sp>
      <p:sp>
        <p:nvSpPr>
          <p:cNvPr id="42" name="Shape 38"/>
          <p:cNvSpPr/>
          <p:nvPr/>
        </p:nvSpPr>
        <p:spPr>
          <a:xfrm>
            <a:off x="640080" y="3831336"/>
            <a:ext cx="1792224" cy="841248"/>
          </a:xfrm>
          <a:prstGeom prst="roundRect">
            <a:avLst>
              <a:gd name="adj" fmla="val 5435"/>
            </a:avLst>
          </a:prstGeom>
          <a:solidFill>
            <a:srgbClr val="3F7E44"/>
          </a:solidFill>
          <a:ln/>
        </p:spPr>
      </p:sp>
      <p:sp>
        <p:nvSpPr>
          <p:cNvPr id="43" name="Text 39"/>
          <p:cNvSpPr/>
          <p:nvPr/>
        </p:nvSpPr>
        <p:spPr>
          <a:xfrm>
            <a:off x="749808" y="3922776"/>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4" name="Text 40"/>
          <p:cNvSpPr/>
          <p:nvPr/>
        </p:nvSpPr>
        <p:spPr>
          <a:xfrm>
            <a:off x="749808" y="4251960"/>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Climate Action</a:t>
            </a:r>
            <a:endParaRPr lang="en-US" sz="950" dirty="0"/>
          </a:p>
        </p:txBody>
      </p:sp>
      <p:sp>
        <p:nvSpPr>
          <p:cNvPr id="45" name="Shape 41"/>
          <p:cNvSpPr/>
          <p:nvPr/>
        </p:nvSpPr>
        <p:spPr>
          <a:xfrm>
            <a:off x="2496312" y="3831336"/>
            <a:ext cx="1792224" cy="841248"/>
          </a:xfrm>
          <a:prstGeom prst="roundRect">
            <a:avLst>
              <a:gd name="adj" fmla="val 5435"/>
            </a:avLst>
          </a:prstGeom>
          <a:solidFill>
            <a:srgbClr val="0A97D9"/>
          </a:solidFill>
          <a:ln/>
        </p:spPr>
      </p:sp>
      <p:sp>
        <p:nvSpPr>
          <p:cNvPr id="46" name="Text 42"/>
          <p:cNvSpPr/>
          <p:nvPr/>
        </p:nvSpPr>
        <p:spPr>
          <a:xfrm>
            <a:off x="2606040" y="3922776"/>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14</a:t>
            </a:r>
            <a:endParaRPr lang="en-US" sz="2000" dirty="0"/>
          </a:p>
        </p:txBody>
      </p:sp>
      <p:sp>
        <p:nvSpPr>
          <p:cNvPr id="47" name="Text 43"/>
          <p:cNvSpPr/>
          <p:nvPr/>
        </p:nvSpPr>
        <p:spPr>
          <a:xfrm>
            <a:off x="2606040" y="4251960"/>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Life Below Water</a:t>
            </a:r>
            <a:endParaRPr lang="en-US" sz="950" dirty="0"/>
          </a:p>
        </p:txBody>
      </p:sp>
      <p:sp>
        <p:nvSpPr>
          <p:cNvPr id="48" name="Shape 44"/>
          <p:cNvSpPr/>
          <p:nvPr/>
        </p:nvSpPr>
        <p:spPr>
          <a:xfrm>
            <a:off x="4352544" y="3831336"/>
            <a:ext cx="1792224" cy="841248"/>
          </a:xfrm>
          <a:prstGeom prst="roundRect">
            <a:avLst>
              <a:gd name="adj" fmla="val 5435"/>
            </a:avLst>
          </a:prstGeom>
          <a:solidFill>
            <a:srgbClr val="56C02B"/>
          </a:solidFill>
          <a:ln/>
        </p:spPr>
      </p:sp>
      <p:sp>
        <p:nvSpPr>
          <p:cNvPr id="49" name="Text 45"/>
          <p:cNvSpPr/>
          <p:nvPr/>
        </p:nvSpPr>
        <p:spPr>
          <a:xfrm>
            <a:off x="4462272" y="3922776"/>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15</a:t>
            </a:r>
            <a:endParaRPr lang="en-US" sz="2000" dirty="0"/>
          </a:p>
        </p:txBody>
      </p:sp>
      <p:sp>
        <p:nvSpPr>
          <p:cNvPr id="50" name="Text 46"/>
          <p:cNvSpPr/>
          <p:nvPr/>
        </p:nvSpPr>
        <p:spPr>
          <a:xfrm>
            <a:off x="4462272" y="4251960"/>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Life on Land</a:t>
            </a:r>
            <a:endParaRPr lang="en-US" sz="950" dirty="0"/>
          </a:p>
        </p:txBody>
      </p:sp>
      <p:sp>
        <p:nvSpPr>
          <p:cNvPr id="51" name="Shape 47"/>
          <p:cNvSpPr/>
          <p:nvPr/>
        </p:nvSpPr>
        <p:spPr>
          <a:xfrm>
            <a:off x="6208776" y="3831336"/>
            <a:ext cx="1792224" cy="841248"/>
          </a:xfrm>
          <a:prstGeom prst="roundRect">
            <a:avLst>
              <a:gd name="adj" fmla="val 5435"/>
            </a:avLst>
          </a:prstGeom>
          <a:solidFill>
            <a:srgbClr val="00689D"/>
          </a:solidFill>
          <a:ln/>
        </p:spPr>
      </p:sp>
      <p:sp>
        <p:nvSpPr>
          <p:cNvPr id="52" name="Text 48"/>
          <p:cNvSpPr/>
          <p:nvPr/>
        </p:nvSpPr>
        <p:spPr>
          <a:xfrm>
            <a:off x="6318504" y="3922776"/>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16</a:t>
            </a:r>
            <a:endParaRPr lang="en-US" sz="2000" dirty="0"/>
          </a:p>
        </p:txBody>
      </p:sp>
      <p:sp>
        <p:nvSpPr>
          <p:cNvPr id="53" name="Text 49"/>
          <p:cNvSpPr/>
          <p:nvPr/>
        </p:nvSpPr>
        <p:spPr>
          <a:xfrm>
            <a:off x="6318504" y="4251960"/>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Peace &amp; Justice</a:t>
            </a:r>
            <a:endParaRPr lang="en-US" sz="950" dirty="0"/>
          </a:p>
        </p:txBody>
      </p:sp>
      <p:sp>
        <p:nvSpPr>
          <p:cNvPr id="54" name="Shape 50"/>
          <p:cNvSpPr/>
          <p:nvPr/>
        </p:nvSpPr>
        <p:spPr>
          <a:xfrm>
            <a:off x="8065008" y="3831336"/>
            <a:ext cx="1792224" cy="841248"/>
          </a:xfrm>
          <a:prstGeom prst="roundRect">
            <a:avLst>
              <a:gd name="adj" fmla="val 5435"/>
            </a:avLst>
          </a:prstGeom>
          <a:solidFill>
            <a:srgbClr val="19486A"/>
          </a:solidFill>
          <a:ln/>
        </p:spPr>
      </p:sp>
      <p:sp>
        <p:nvSpPr>
          <p:cNvPr id="55" name="Text 51"/>
          <p:cNvSpPr/>
          <p:nvPr/>
        </p:nvSpPr>
        <p:spPr>
          <a:xfrm>
            <a:off x="8174736" y="3922776"/>
            <a:ext cx="640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17</a:t>
            </a:r>
            <a:endParaRPr lang="en-US" sz="2000" dirty="0"/>
          </a:p>
        </p:txBody>
      </p:sp>
      <p:sp>
        <p:nvSpPr>
          <p:cNvPr id="56" name="Text 52"/>
          <p:cNvSpPr/>
          <p:nvPr/>
        </p:nvSpPr>
        <p:spPr>
          <a:xfrm>
            <a:off x="8174736" y="4251960"/>
            <a:ext cx="1572768" cy="365760"/>
          </a:xfrm>
          <a:prstGeom prst="rect">
            <a:avLst/>
          </a:prstGeom>
          <a:noFill/>
          <a:ln/>
        </p:spPr>
        <p:txBody>
          <a:bodyPr wrap="square" lIns="0" tIns="0" rIns="0" bIns="0" rtlCol="0" anchor="t"/>
          <a:lstStyle/>
          <a:p>
            <a:pPr marL="0" indent="0">
              <a:lnSpc>
                <a:spcPct val="92000"/>
              </a:lnSpc>
              <a:buNone/>
            </a:pPr>
            <a:r>
              <a:rPr lang="en-US" sz="950" b="1" dirty="0">
                <a:solidFill>
                  <a:srgbClr val="FFFFFF"/>
                </a:solidFill>
                <a:latin typeface="Calibri" pitchFamily="34" charset="0"/>
                <a:ea typeface="Calibri" pitchFamily="34" charset="-122"/>
                <a:cs typeface="Calibri" pitchFamily="34" charset="-120"/>
              </a:rPr>
              <a:t>Partnerships</a:t>
            </a:r>
            <a:endParaRPr lang="en-US" sz="950" dirty="0"/>
          </a:p>
        </p:txBody>
      </p:sp>
      <p:sp>
        <p:nvSpPr>
          <p:cNvPr id="57" name="Shape 53"/>
          <p:cNvSpPr/>
          <p:nvPr/>
        </p:nvSpPr>
        <p:spPr>
          <a:xfrm>
            <a:off x="690372" y="4835284"/>
            <a:ext cx="10908792" cy="1078992"/>
          </a:xfrm>
          <a:prstGeom prst="roundRect">
            <a:avLst>
              <a:gd name="adj" fmla="val 8475"/>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pic>
        <p:nvPicPr>
          <p:cNvPr id="58" name="Image 2" descr="preencoded.png"/>
          <p:cNvPicPr>
            <a:picLocks noChangeAspect="1"/>
          </p:cNvPicPr>
          <p:nvPr/>
        </p:nvPicPr>
        <p:blipFill>
          <a:blip r:embed="rId4"/>
          <a:stretch>
            <a:fillRect/>
          </a:stretch>
        </p:blipFill>
        <p:spPr>
          <a:xfrm>
            <a:off x="914400" y="5020056"/>
            <a:ext cx="411480" cy="411480"/>
          </a:xfrm>
          <a:prstGeom prst="rect">
            <a:avLst/>
          </a:prstGeom>
        </p:spPr>
      </p:pic>
      <p:sp>
        <p:nvSpPr>
          <p:cNvPr id="59" name="Text 54"/>
          <p:cNvSpPr/>
          <p:nvPr/>
        </p:nvSpPr>
        <p:spPr>
          <a:xfrm>
            <a:off x="1436738" y="5009861"/>
            <a:ext cx="10012680" cy="749808"/>
          </a:xfrm>
          <a:prstGeom prst="rect">
            <a:avLst/>
          </a:prstGeom>
          <a:noFill/>
          <a:ln/>
        </p:spPr>
        <p:txBody>
          <a:bodyPr wrap="square" lIns="0" tIns="0" rIns="0" bIns="0" rtlCol="0" anchor="ctr"/>
          <a:lstStyle/>
          <a:p>
            <a:pPr>
              <a:lnSpc>
                <a:spcPct val="105000"/>
              </a:lnSpc>
            </a:pPr>
            <a:r>
              <a:rPr lang="en-IN" sz="1600" dirty="0"/>
              <a:t>Our problem maps to SDG [10 – Reduced Inequalities] because our AI-powered smart spectacles help visually impaired individuals navigate safely and independently, reducing accessibility barriers and promoting equal opportunities and social inclusion.</a:t>
            </a:r>
            <a:endParaRPr lang="en-US" sz="1450" dirty="0"/>
          </a:p>
        </p:txBody>
      </p:sp>
      <p:sp>
        <p:nvSpPr>
          <p:cNvPr id="60" name="Text 55"/>
          <p:cNvSpPr/>
          <p:nvPr/>
        </p:nvSpPr>
        <p:spPr>
          <a:xfrm>
            <a:off x="502920" y="6455664"/>
            <a:ext cx="8229600" cy="274320"/>
          </a:xfrm>
          <a:prstGeom prst="rect">
            <a:avLst/>
          </a:prstGeom>
          <a:noFill/>
          <a:ln/>
        </p:spPr>
        <p:txBody>
          <a:bodyPr wrap="square" lIns="0" tIns="0" rIns="0" bIns="0" rtlCol="0" anchor="ctr"/>
          <a:lstStyle/>
          <a:p>
            <a:pPr marL="0" indent="0">
              <a:buNone/>
            </a:pPr>
            <a:r>
              <a:rPr lang="en-US" sz="900" dirty="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dirty="0"/>
          </a:p>
        </p:txBody>
      </p:sp>
      <p:pic>
        <p:nvPicPr>
          <p:cNvPr id="62" name="Picture 61">
            <a:extLst>
              <a:ext uri="{FF2B5EF4-FFF2-40B4-BE49-F238E27FC236}">
                <a16:creationId xmlns:a16="http://schemas.microsoft.com/office/drawing/2014/main" id="{BEAA63C2-6876-CE01-BEB4-C34D0C0F3E97}"/>
              </a:ext>
            </a:extLst>
          </p:cNvPr>
          <p:cNvPicPr>
            <a:picLocks noChangeAspect="1"/>
          </p:cNvPicPr>
          <p:nvPr/>
        </p:nvPicPr>
        <p:blipFill>
          <a:blip r:embed="rId5"/>
          <a:stretch>
            <a:fillRect/>
          </a:stretch>
        </p:blipFill>
        <p:spPr>
          <a:xfrm>
            <a:off x="10363654" y="371776"/>
            <a:ext cx="1325426" cy="6035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A45"/>
        </a:solidFill>
        <a:effectLst/>
      </p:bgPr>
    </p:bg>
    <p:spTree>
      <p:nvGrpSpPr>
        <p:cNvPr id="1" name=""/>
        <p:cNvGrpSpPr/>
        <p:nvPr/>
      </p:nvGrpSpPr>
      <p:grpSpPr>
        <a:xfrm>
          <a:off x="0" y="0"/>
          <a:ext cx="0" cy="0"/>
          <a:chOff x="0" y="0"/>
          <a:chExt cx="0" cy="0"/>
        </a:xfrm>
      </p:grpSpPr>
      <p:sp>
        <p:nvSpPr>
          <p:cNvPr id="2" name="Shape 0"/>
          <p:cNvSpPr/>
          <p:nvPr/>
        </p:nvSpPr>
        <p:spPr>
          <a:xfrm>
            <a:off x="8229600" y="-2194560"/>
            <a:ext cx="6583680" cy="6583680"/>
          </a:xfrm>
          <a:prstGeom prst="ellipse">
            <a:avLst/>
          </a:prstGeom>
          <a:solidFill>
            <a:srgbClr val="0D2F7A">
              <a:alpha val="50000"/>
            </a:srgbClr>
          </a:solidFill>
          <a:ln/>
        </p:spPr>
      </p:sp>
      <p:sp>
        <p:nvSpPr>
          <p:cNvPr id="3" name="Shape 1"/>
          <p:cNvSpPr/>
          <p:nvPr/>
        </p:nvSpPr>
        <p:spPr>
          <a:xfrm>
            <a:off x="-2377440" y="3474720"/>
            <a:ext cx="5852160" cy="5852160"/>
          </a:xfrm>
          <a:prstGeom prst="ellipse">
            <a:avLst/>
          </a:prstGeom>
          <a:solidFill>
            <a:srgbClr val="0D2F7A">
              <a:alpha val="42000"/>
            </a:srgbClr>
          </a:solidFill>
          <a:ln/>
        </p:spPr>
      </p:sp>
      <p:sp>
        <p:nvSpPr>
          <p:cNvPr id="4" name="Text 2"/>
          <p:cNvSpPr/>
          <p:nvPr/>
        </p:nvSpPr>
        <p:spPr>
          <a:xfrm>
            <a:off x="457200" y="2148840"/>
            <a:ext cx="11274552" cy="1280160"/>
          </a:xfrm>
          <a:prstGeom prst="rect">
            <a:avLst/>
          </a:prstGeom>
          <a:noFill/>
          <a:ln/>
        </p:spPr>
        <p:txBody>
          <a:bodyPr wrap="square" lIns="0" tIns="0" rIns="0" bIns="0" rtlCol="0" anchor="ctr"/>
          <a:lstStyle/>
          <a:p>
            <a:pPr marL="0" indent="0" algn="ctr">
              <a:buNone/>
            </a:pPr>
            <a:r>
              <a:rPr lang="en-US" sz="7200" b="1" dirty="0">
                <a:solidFill>
                  <a:srgbClr val="FFC01E"/>
                </a:solidFill>
                <a:latin typeface="Calibri" pitchFamily="34" charset="0"/>
                <a:ea typeface="Calibri" pitchFamily="34" charset="-122"/>
                <a:cs typeface="Calibri" pitchFamily="34" charset="-120"/>
              </a:rPr>
              <a:t>Thank You!</a:t>
            </a:r>
            <a:endParaRPr lang="en-US" sz="7200" dirty="0"/>
          </a:p>
        </p:txBody>
      </p:sp>
      <p:sp>
        <p:nvSpPr>
          <p:cNvPr id="5" name="Text 3"/>
          <p:cNvSpPr/>
          <p:nvPr/>
        </p:nvSpPr>
        <p:spPr>
          <a:xfrm>
            <a:off x="457200" y="3520440"/>
            <a:ext cx="11274552" cy="457200"/>
          </a:xfrm>
          <a:prstGeom prst="rect">
            <a:avLst/>
          </a:prstGeom>
          <a:noFill/>
          <a:ln/>
        </p:spPr>
        <p:txBody>
          <a:bodyPr wrap="square" lIns="0" tIns="0" rIns="0" bIns="0" rtlCol="0" anchor="ctr"/>
          <a:lstStyle/>
          <a:p>
            <a:pPr marL="0" indent="0" algn="ctr">
              <a:buNone/>
            </a:pPr>
            <a:r>
              <a:rPr lang="en-US" sz="2100" kern="0" spc="50" dirty="0">
                <a:solidFill>
                  <a:srgbClr val="FFFFFF"/>
                </a:solidFill>
                <a:latin typeface="Calibri" pitchFamily="34" charset="0"/>
                <a:ea typeface="Calibri" pitchFamily="34" charset="-122"/>
                <a:cs typeface="Calibri" pitchFamily="34" charset="-120"/>
              </a:rPr>
              <a:t>Questions, feedback &amp; ideas are always welcome.</a:t>
            </a:r>
            <a:endParaRPr lang="en-US" sz="2100" dirty="0"/>
          </a:p>
        </p:txBody>
      </p:sp>
      <p:sp>
        <p:nvSpPr>
          <p:cNvPr id="6" name="Text 4"/>
          <p:cNvSpPr/>
          <p:nvPr/>
        </p:nvSpPr>
        <p:spPr>
          <a:xfrm>
            <a:off x="457200" y="4800600"/>
            <a:ext cx="11274552" cy="384048"/>
          </a:xfrm>
          <a:prstGeom prst="rect">
            <a:avLst/>
          </a:prstGeom>
          <a:noFill/>
          <a:ln/>
        </p:spPr>
        <p:txBody>
          <a:bodyPr wrap="square" lIns="0" tIns="0" rIns="0" bIns="0" rtlCol="0" anchor="ctr"/>
          <a:lstStyle/>
          <a:p>
            <a:pPr marL="0" indent="0" algn="ctr">
              <a:buNone/>
            </a:pPr>
            <a:r>
              <a:rPr lang="en-US" sz="1800" b="1" dirty="0">
                <a:solidFill>
                  <a:srgbClr val="FFCE4D"/>
                </a:solidFill>
                <a:latin typeface="Calibri" pitchFamily="34" charset="0"/>
                <a:ea typeface="Calibri" pitchFamily="34" charset="-122"/>
                <a:cs typeface="Calibri" pitchFamily="34" charset="-120"/>
              </a:rPr>
              <a:t>Sri Eshwar College of Engineering</a:t>
            </a:r>
            <a:endParaRPr lang="en-US" sz="1800" dirty="0"/>
          </a:p>
        </p:txBody>
      </p:sp>
      <p:sp>
        <p:nvSpPr>
          <p:cNvPr id="7" name="Text 5"/>
          <p:cNvSpPr/>
          <p:nvPr/>
        </p:nvSpPr>
        <p:spPr>
          <a:xfrm>
            <a:off x="457200" y="5212080"/>
            <a:ext cx="11274552" cy="320040"/>
          </a:xfrm>
          <a:prstGeom prst="rect">
            <a:avLst/>
          </a:prstGeom>
          <a:noFill/>
          <a:ln/>
        </p:spPr>
        <p:txBody>
          <a:bodyPr wrap="square" lIns="0" tIns="0" rIns="0" bIns="0" rtlCol="0" anchor="ctr"/>
          <a:lstStyle/>
          <a:p>
            <a:pPr marL="0" indent="0" algn="ctr">
              <a:buNone/>
            </a:pPr>
            <a:r>
              <a:rPr lang="en-US" sz="1300" kern="0" spc="100" dirty="0">
                <a:solidFill>
                  <a:srgbClr val="C3CDE8"/>
                </a:solidFill>
                <a:latin typeface="Calibri" pitchFamily="34" charset="0"/>
                <a:ea typeface="Calibri" pitchFamily="34" charset="-122"/>
                <a:cs typeface="Calibri" pitchFamily="34" charset="-120"/>
              </a:rPr>
              <a:t>Sri Eshwar Innovation Studio ·  Coimbatore | Tamilnadu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2445</TotalTime>
  <Words>1792</Words>
  <Application>Microsoft Office PowerPoint</Application>
  <PresentationFormat>Widescreen</PresentationFormat>
  <Paragraphs>231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 Mapping — Student Presentation Template</dc:title>
  <dc:subject>PptxGenJS Presentation</dc:subject>
  <dc:creator>Sri Eshwar Innovation Studio</dc:creator>
  <cp:lastModifiedBy>Akshaya Kumar</cp:lastModifiedBy>
  <cp:revision>5</cp:revision>
  <dcterms:created xsi:type="dcterms:W3CDTF">2026-06-20T12:55:14Z</dcterms:created>
  <dcterms:modified xsi:type="dcterms:W3CDTF">2026-07-05T14:48:06Z</dcterms:modified>
</cp:coreProperties>
</file>